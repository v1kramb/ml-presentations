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Bebas Neue"/>
      <p:regular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PT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ebasNeue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7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6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9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8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11.xml"/><Relationship Id="rId37" Type="http://schemas.openxmlformats.org/officeDocument/2006/relationships/font" Target="fonts/PTSans-bold.fntdata"/><Relationship Id="rId14" Type="http://schemas.openxmlformats.org/officeDocument/2006/relationships/slide" Target="slides/slide10.xml"/><Relationship Id="rId36" Type="http://schemas.openxmlformats.org/officeDocument/2006/relationships/font" Target="fonts/PTSans-regular.fntdata"/><Relationship Id="rId17" Type="http://schemas.openxmlformats.org/officeDocument/2006/relationships/slide" Target="slides/slide13.xml"/><Relationship Id="rId39" Type="http://schemas.openxmlformats.org/officeDocument/2006/relationships/font" Target="fonts/PTSans-boldItalic.fntdata"/><Relationship Id="rId16" Type="http://schemas.openxmlformats.org/officeDocument/2006/relationships/slide" Target="slides/slide12.xml"/><Relationship Id="rId38" Type="http://schemas.openxmlformats.org/officeDocument/2006/relationships/font" Target="fonts/PTSans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2d4e97ef0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2d4e97ef0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703f1431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703f1431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2da052de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2da052de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703f14312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703f14312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703f143123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703f143123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6b4002b51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6b4002b51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703f14312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703f14312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6b4e5d0fd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6b4e5d0fd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703f143123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703f143123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703f14312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703f14312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703f14312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703f14312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6b4e5d0fd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6b4e5d0fd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703f14312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703f14312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703f14312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703f14312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6b4002b51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16b4002b51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703f14312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703f14312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703f14312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703f14312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703f14312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703f14312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703f14312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703f14312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703f14312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1703f14312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703f14312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703f14312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703f14312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703f14312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926475" y="1039950"/>
            <a:ext cx="4649100" cy="19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926475" y="3373050"/>
            <a:ext cx="2656200" cy="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666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2221675"/>
            <a:ext cx="4387800" cy="6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3225" y="982925"/>
            <a:ext cx="1126200" cy="88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13225" y="2899550"/>
            <a:ext cx="23694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13225" y="3093025"/>
            <a:ext cx="3858900" cy="8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713225" y="1240175"/>
            <a:ext cx="3858900" cy="13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314375" y="44179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-777450" y="4417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6054600" y="-10954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044" scaled="0"/>
        </a:gra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267638" y="2711350"/>
            <a:ext cx="29424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title"/>
          </p:nvPr>
        </p:nvSpPr>
        <p:spPr>
          <a:xfrm>
            <a:off x="4933895" y="2711350"/>
            <a:ext cx="29424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933895" y="3068050"/>
            <a:ext cx="2942400" cy="10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1267638" y="3068050"/>
            <a:ext cx="2942400" cy="10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p5"/>
          <p:cNvSpPr txBox="1"/>
          <p:nvPr>
            <p:ph idx="4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" name="Google Shape;33;p5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1400" scaled="0"/>
        </a:gra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 flipH="1" rot="10800000">
            <a:off x="0" y="0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-777475" y="44246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372600" y="838625"/>
            <a:ext cx="4104600" cy="8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3372600" y="2233671"/>
            <a:ext cx="4104600" cy="20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-777475" y="-95120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-308275" y="14260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3915300" y="1481575"/>
            <a:ext cx="4515600" cy="18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289325" y="-10467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3338275" y="1415713"/>
            <a:ext cx="50925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3338275" y="2543688"/>
            <a:ext cx="50925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 flipH="1" rot="10800000">
            <a:off x="0" y="0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-904525" y="1831800"/>
            <a:ext cx="4698300" cy="46989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2580750" y="393662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-390175" y="1831800"/>
            <a:ext cx="856500" cy="856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713225" y="2508375"/>
            <a:ext cx="2260500" cy="18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321475" y="1384463"/>
            <a:ext cx="5109300" cy="156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10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subTitle"/>
          </p:nvPr>
        </p:nvSpPr>
        <p:spPr>
          <a:xfrm>
            <a:off x="3321475" y="3187388"/>
            <a:ext cx="5109300" cy="3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3" name="Google Shape;63;p11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6268075" y="4219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5130775" y="45560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0025" scaled="0"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1772463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1772463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2" type="title"/>
          </p:nvPr>
        </p:nvSpPr>
        <p:spPr>
          <a:xfrm>
            <a:off x="5474937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2" name="Google Shape;72;p13"/>
          <p:cNvSpPr txBox="1"/>
          <p:nvPr>
            <p:ph idx="3" type="subTitle"/>
          </p:nvPr>
        </p:nvSpPr>
        <p:spPr>
          <a:xfrm>
            <a:off x="5474937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hasCustomPrompt="1" idx="4" type="title"/>
          </p:nvPr>
        </p:nvSpPr>
        <p:spPr>
          <a:xfrm>
            <a:off x="1030563" y="1654725"/>
            <a:ext cx="6657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hasCustomPrompt="1" idx="5" type="title"/>
          </p:nvPr>
        </p:nvSpPr>
        <p:spPr>
          <a:xfrm>
            <a:off x="4733038" y="1654725"/>
            <a:ext cx="6657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6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7" type="title"/>
          </p:nvPr>
        </p:nvSpPr>
        <p:spPr>
          <a:xfrm>
            <a:off x="1772463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7" name="Google Shape;77;p13"/>
          <p:cNvSpPr txBox="1"/>
          <p:nvPr>
            <p:ph idx="8" type="subTitle"/>
          </p:nvPr>
        </p:nvSpPr>
        <p:spPr>
          <a:xfrm>
            <a:off x="1772463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9" type="title"/>
          </p:nvPr>
        </p:nvSpPr>
        <p:spPr>
          <a:xfrm>
            <a:off x="5474937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" name="Google Shape;79;p13"/>
          <p:cNvSpPr txBox="1"/>
          <p:nvPr>
            <p:ph idx="13" type="subTitle"/>
          </p:nvPr>
        </p:nvSpPr>
        <p:spPr>
          <a:xfrm>
            <a:off x="5474937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14" type="title"/>
          </p:nvPr>
        </p:nvSpPr>
        <p:spPr>
          <a:xfrm>
            <a:off x="1030563" y="3061675"/>
            <a:ext cx="6657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15" type="title"/>
          </p:nvPr>
        </p:nvSpPr>
        <p:spPr>
          <a:xfrm>
            <a:off x="4733038" y="3061675"/>
            <a:ext cx="6657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713225" y="1584850"/>
            <a:ext cx="4338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713225" y="2922025"/>
            <a:ext cx="43386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-3706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406975" y="-95120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969750" y="3381325"/>
            <a:ext cx="33456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969750" y="1405475"/>
            <a:ext cx="7204500" cy="15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15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713225" y="1376788"/>
            <a:ext cx="2865300" cy="8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subTitle"/>
          </p:nvPr>
        </p:nvSpPr>
        <p:spPr>
          <a:xfrm>
            <a:off x="713225" y="2753300"/>
            <a:ext cx="28653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314375" y="44179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-777450" y="4417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7093500" y="-80590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8176100" y="229275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4608363" y="1706900"/>
            <a:ext cx="286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" type="subTitle"/>
          </p:nvPr>
        </p:nvSpPr>
        <p:spPr>
          <a:xfrm>
            <a:off x="4608363" y="2692650"/>
            <a:ext cx="28653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-994650" y="-68350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7603575" y="3720950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6743375" y="42722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1015650" y="3490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1949025" y="1572175"/>
            <a:ext cx="286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1949025" y="2557925"/>
            <a:ext cx="28653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6981300" y="46547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8430775" y="41364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13225" y="1456500"/>
            <a:ext cx="3519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2" type="title"/>
          </p:nvPr>
        </p:nvSpPr>
        <p:spPr>
          <a:xfrm>
            <a:off x="4911425" y="1456500"/>
            <a:ext cx="3519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" type="subTitle"/>
          </p:nvPr>
        </p:nvSpPr>
        <p:spPr>
          <a:xfrm>
            <a:off x="4911425" y="1965600"/>
            <a:ext cx="3519300" cy="22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713225" y="1965600"/>
            <a:ext cx="3519300" cy="22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6" name="Google Shape;126;p19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 flipH="1" rot="10800000">
            <a:off x="0" y="0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-777475" y="44246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4572000" y="1355075"/>
            <a:ext cx="2547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2" type="title"/>
          </p:nvPr>
        </p:nvSpPr>
        <p:spPr>
          <a:xfrm>
            <a:off x="4572000" y="2836825"/>
            <a:ext cx="2547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4572000" y="3193525"/>
            <a:ext cx="25473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33" name="Google Shape;133;p20"/>
          <p:cNvSpPr txBox="1"/>
          <p:nvPr>
            <p:ph idx="3" type="subTitle"/>
          </p:nvPr>
        </p:nvSpPr>
        <p:spPr>
          <a:xfrm>
            <a:off x="4572000" y="1711775"/>
            <a:ext cx="25473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34" name="Google Shape;134;p20"/>
          <p:cNvSpPr txBox="1"/>
          <p:nvPr>
            <p:ph idx="4" type="title"/>
          </p:nvPr>
        </p:nvSpPr>
        <p:spPr>
          <a:xfrm>
            <a:off x="4572000" y="539500"/>
            <a:ext cx="3858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" name="Google Shape;135;p20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1765025" y="1571750"/>
            <a:ext cx="2393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1765025" y="1928450"/>
            <a:ext cx="23937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2" type="title"/>
          </p:nvPr>
        </p:nvSpPr>
        <p:spPr>
          <a:xfrm>
            <a:off x="3901039" y="3122750"/>
            <a:ext cx="2393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1" name="Google Shape;141;p21"/>
          <p:cNvSpPr txBox="1"/>
          <p:nvPr>
            <p:ph idx="3" type="subTitle"/>
          </p:nvPr>
        </p:nvSpPr>
        <p:spPr>
          <a:xfrm>
            <a:off x="3901044" y="3479450"/>
            <a:ext cx="23937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4" type="title"/>
          </p:nvPr>
        </p:nvSpPr>
        <p:spPr>
          <a:xfrm>
            <a:off x="6037014" y="1571750"/>
            <a:ext cx="2393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3" name="Google Shape;143;p21"/>
          <p:cNvSpPr txBox="1"/>
          <p:nvPr>
            <p:ph idx="5" type="subTitle"/>
          </p:nvPr>
        </p:nvSpPr>
        <p:spPr>
          <a:xfrm>
            <a:off x="6037024" y="1928450"/>
            <a:ext cx="23937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6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21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6981300" y="46547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8430775" y="41364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2145808" y="1635275"/>
            <a:ext cx="2139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2145808" y="1991975"/>
            <a:ext cx="2139000" cy="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2" type="title"/>
          </p:nvPr>
        </p:nvSpPr>
        <p:spPr>
          <a:xfrm>
            <a:off x="5910993" y="1635275"/>
            <a:ext cx="2139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3" name="Google Shape;153;p22"/>
          <p:cNvSpPr txBox="1"/>
          <p:nvPr>
            <p:ph idx="3" type="subTitle"/>
          </p:nvPr>
        </p:nvSpPr>
        <p:spPr>
          <a:xfrm>
            <a:off x="5910986" y="1991975"/>
            <a:ext cx="2139000" cy="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4" type="title"/>
          </p:nvPr>
        </p:nvSpPr>
        <p:spPr>
          <a:xfrm>
            <a:off x="2145808" y="3068675"/>
            <a:ext cx="2139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5" name="Google Shape;155;p22"/>
          <p:cNvSpPr txBox="1"/>
          <p:nvPr>
            <p:ph idx="5" type="subTitle"/>
          </p:nvPr>
        </p:nvSpPr>
        <p:spPr>
          <a:xfrm>
            <a:off x="2145808" y="3425375"/>
            <a:ext cx="2139000" cy="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6" type="title"/>
          </p:nvPr>
        </p:nvSpPr>
        <p:spPr>
          <a:xfrm>
            <a:off x="5910993" y="3068675"/>
            <a:ext cx="2139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7" name="Google Shape;157;p22"/>
          <p:cNvSpPr txBox="1"/>
          <p:nvPr>
            <p:ph idx="7" type="subTitle"/>
          </p:nvPr>
        </p:nvSpPr>
        <p:spPr>
          <a:xfrm>
            <a:off x="5910986" y="3425375"/>
            <a:ext cx="2139000" cy="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idx="8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9" name="Google Shape;159;p2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6634050" y="46085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2138151" y="1291150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4" name="Google Shape;164;p23"/>
          <p:cNvSpPr txBox="1"/>
          <p:nvPr>
            <p:ph idx="1" type="subTitle"/>
          </p:nvPr>
        </p:nvSpPr>
        <p:spPr>
          <a:xfrm>
            <a:off x="2138163" y="1647850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3"/>
          <p:cNvSpPr txBox="1"/>
          <p:nvPr>
            <p:ph idx="2" type="title"/>
          </p:nvPr>
        </p:nvSpPr>
        <p:spPr>
          <a:xfrm>
            <a:off x="5903326" y="1291138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" name="Google Shape;166;p23"/>
          <p:cNvSpPr txBox="1"/>
          <p:nvPr>
            <p:ph idx="3" type="subTitle"/>
          </p:nvPr>
        </p:nvSpPr>
        <p:spPr>
          <a:xfrm>
            <a:off x="5903338" y="1647838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4" type="title"/>
          </p:nvPr>
        </p:nvSpPr>
        <p:spPr>
          <a:xfrm>
            <a:off x="2138151" y="2419150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8" name="Google Shape;168;p23"/>
          <p:cNvSpPr txBox="1"/>
          <p:nvPr>
            <p:ph idx="5" type="subTitle"/>
          </p:nvPr>
        </p:nvSpPr>
        <p:spPr>
          <a:xfrm>
            <a:off x="2138163" y="2775850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6" type="title"/>
          </p:nvPr>
        </p:nvSpPr>
        <p:spPr>
          <a:xfrm>
            <a:off x="5903326" y="2419138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0" name="Google Shape;170;p23"/>
          <p:cNvSpPr txBox="1"/>
          <p:nvPr>
            <p:ph idx="7" type="subTitle"/>
          </p:nvPr>
        </p:nvSpPr>
        <p:spPr>
          <a:xfrm>
            <a:off x="5903338" y="2775838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8" type="title"/>
          </p:nvPr>
        </p:nvSpPr>
        <p:spPr>
          <a:xfrm>
            <a:off x="2138151" y="3547150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2" name="Google Shape;172;p23"/>
          <p:cNvSpPr txBox="1"/>
          <p:nvPr>
            <p:ph idx="9" type="subTitle"/>
          </p:nvPr>
        </p:nvSpPr>
        <p:spPr>
          <a:xfrm>
            <a:off x="2138163" y="3903850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3" type="title"/>
          </p:nvPr>
        </p:nvSpPr>
        <p:spPr>
          <a:xfrm>
            <a:off x="5903326" y="3547138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23"/>
          <p:cNvSpPr txBox="1"/>
          <p:nvPr>
            <p:ph idx="14" type="subTitle"/>
          </p:nvPr>
        </p:nvSpPr>
        <p:spPr>
          <a:xfrm>
            <a:off x="5903338" y="3903838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15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23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hasCustomPrompt="1" type="title"/>
          </p:nvPr>
        </p:nvSpPr>
        <p:spPr>
          <a:xfrm>
            <a:off x="941825" y="1041350"/>
            <a:ext cx="37236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9" name="Google Shape;179;p24"/>
          <p:cNvSpPr txBox="1"/>
          <p:nvPr>
            <p:ph idx="1" type="subTitle"/>
          </p:nvPr>
        </p:nvSpPr>
        <p:spPr>
          <a:xfrm>
            <a:off x="941825" y="1971450"/>
            <a:ext cx="37236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0" name="Google Shape;180;p24"/>
          <p:cNvSpPr txBox="1"/>
          <p:nvPr>
            <p:ph hasCustomPrompt="1" idx="2" type="title"/>
          </p:nvPr>
        </p:nvSpPr>
        <p:spPr>
          <a:xfrm>
            <a:off x="941825" y="2788450"/>
            <a:ext cx="37236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1" name="Google Shape;181;p24"/>
          <p:cNvSpPr txBox="1"/>
          <p:nvPr>
            <p:ph idx="3" type="subTitle"/>
          </p:nvPr>
        </p:nvSpPr>
        <p:spPr>
          <a:xfrm>
            <a:off x="941825" y="3718550"/>
            <a:ext cx="37236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2" name="Google Shape;182;p24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-1335175" y="41784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5725350" y="-95150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hasCustomPrompt="1" type="title"/>
          </p:nvPr>
        </p:nvSpPr>
        <p:spPr>
          <a:xfrm>
            <a:off x="2323344" y="1200050"/>
            <a:ext cx="1014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8" name="Google Shape;188;p25"/>
          <p:cNvSpPr txBox="1"/>
          <p:nvPr>
            <p:ph idx="2" type="title"/>
          </p:nvPr>
        </p:nvSpPr>
        <p:spPr>
          <a:xfrm>
            <a:off x="2323344" y="1830650"/>
            <a:ext cx="2180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9" name="Google Shape;189;p25"/>
          <p:cNvSpPr txBox="1"/>
          <p:nvPr>
            <p:ph idx="1" type="subTitle"/>
          </p:nvPr>
        </p:nvSpPr>
        <p:spPr>
          <a:xfrm>
            <a:off x="2323344" y="2187350"/>
            <a:ext cx="21801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5"/>
          <p:cNvSpPr txBox="1"/>
          <p:nvPr>
            <p:ph idx="3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1" name="Google Shape;191;p25"/>
          <p:cNvSpPr txBox="1"/>
          <p:nvPr>
            <p:ph hasCustomPrompt="1" idx="4" type="title"/>
          </p:nvPr>
        </p:nvSpPr>
        <p:spPr>
          <a:xfrm>
            <a:off x="6250644" y="1200050"/>
            <a:ext cx="1014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2" name="Google Shape;192;p25"/>
          <p:cNvSpPr txBox="1"/>
          <p:nvPr>
            <p:ph idx="5" type="title"/>
          </p:nvPr>
        </p:nvSpPr>
        <p:spPr>
          <a:xfrm>
            <a:off x="6250644" y="1830650"/>
            <a:ext cx="2180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3" name="Google Shape;193;p25"/>
          <p:cNvSpPr txBox="1"/>
          <p:nvPr>
            <p:ph idx="6" type="subTitle"/>
          </p:nvPr>
        </p:nvSpPr>
        <p:spPr>
          <a:xfrm>
            <a:off x="6250644" y="2187350"/>
            <a:ext cx="21801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5"/>
          <p:cNvSpPr txBox="1"/>
          <p:nvPr>
            <p:ph hasCustomPrompt="1" idx="7" type="title"/>
          </p:nvPr>
        </p:nvSpPr>
        <p:spPr>
          <a:xfrm>
            <a:off x="2323344" y="2956325"/>
            <a:ext cx="1014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5" name="Google Shape;195;p25"/>
          <p:cNvSpPr txBox="1"/>
          <p:nvPr>
            <p:ph idx="8" type="title"/>
          </p:nvPr>
        </p:nvSpPr>
        <p:spPr>
          <a:xfrm>
            <a:off x="2323344" y="3586925"/>
            <a:ext cx="2180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6" name="Google Shape;196;p25"/>
          <p:cNvSpPr txBox="1"/>
          <p:nvPr>
            <p:ph idx="9" type="subTitle"/>
          </p:nvPr>
        </p:nvSpPr>
        <p:spPr>
          <a:xfrm>
            <a:off x="2323344" y="3943625"/>
            <a:ext cx="21801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hasCustomPrompt="1" idx="13" type="title"/>
          </p:nvPr>
        </p:nvSpPr>
        <p:spPr>
          <a:xfrm>
            <a:off x="6250644" y="2956325"/>
            <a:ext cx="1014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8" name="Google Shape;198;p25"/>
          <p:cNvSpPr txBox="1"/>
          <p:nvPr>
            <p:ph idx="14" type="title"/>
          </p:nvPr>
        </p:nvSpPr>
        <p:spPr>
          <a:xfrm>
            <a:off x="6250644" y="3586925"/>
            <a:ext cx="2180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9" name="Google Shape;199;p25"/>
          <p:cNvSpPr txBox="1"/>
          <p:nvPr>
            <p:ph idx="15" type="subTitle"/>
          </p:nvPr>
        </p:nvSpPr>
        <p:spPr>
          <a:xfrm>
            <a:off x="6250644" y="3943625"/>
            <a:ext cx="21801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5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3" name="Google Shape;203;p26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713225" y="539500"/>
            <a:ext cx="4057500" cy="87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27"/>
          <p:cNvSpPr txBox="1"/>
          <p:nvPr>
            <p:ph idx="1" type="subTitle"/>
          </p:nvPr>
        </p:nvSpPr>
        <p:spPr>
          <a:xfrm>
            <a:off x="713225" y="1863269"/>
            <a:ext cx="4057500" cy="11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/>
        </p:nvSpPr>
        <p:spPr>
          <a:xfrm>
            <a:off x="713225" y="3679100"/>
            <a:ext cx="405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and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7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7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6054600" y="-10954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-777450" y="4417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-542100" y="43634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8430775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713225" y="479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9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-561150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82399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713225" y="-391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ctrTitle"/>
          </p:nvPr>
        </p:nvSpPr>
        <p:spPr>
          <a:xfrm>
            <a:off x="3926475" y="1039950"/>
            <a:ext cx="4649100" cy="19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Theory Lecture #1</a:t>
            </a:r>
            <a:r>
              <a:rPr lang="en">
                <a:solidFill>
                  <a:schemeClr val="accent2"/>
                </a:solidFill>
              </a:rPr>
              <a:t>: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chemeClr val="lt2"/>
                </a:solidFill>
              </a:rPr>
              <a:t>Decision Trees &amp; Random Forests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3926475" y="3373050"/>
            <a:ext cx="2656200" cy="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 24th, 2022</a:t>
            </a:r>
            <a:endParaRPr/>
          </a:p>
        </p:txBody>
      </p:sp>
      <p:cxnSp>
        <p:nvCxnSpPr>
          <p:cNvPr id="230" name="Google Shape;230;p30"/>
          <p:cNvCxnSpPr/>
          <p:nvPr/>
        </p:nvCxnSpPr>
        <p:spPr>
          <a:xfrm>
            <a:off x="3926475" y="3189225"/>
            <a:ext cx="1272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0"/>
          <p:cNvSpPr/>
          <p:nvPr/>
        </p:nvSpPr>
        <p:spPr>
          <a:xfrm>
            <a:off x="7096000" y="382565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>
            <a:off x="7707775" y="31653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/>
          <p:nvPr/>
        </p:nvSpPr>
        <p:spPr>
          <a:xfrm>
            <a:off x="8549975" y="29777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-1081350" y="-6356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2361550" y="5395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>
            <a:alphaModFix/>
          </a:blip>
          <a:srcRect b="0" l="8292" r="14713" t="0"/>
          <a:stretch/>
        </p:blipFill>
        <p:spPr>
          <a:xfrm>
            <a:off x="99275" y="1398275"/>
            <a:ext cx="4023300" cy="257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/>
        </p:nvSpPr>
        <p:spPr>
          <a:xfrm>
            <a:off x="525" y="1426000"/>
            <a:ext cx="199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Attendance Form</a:t>
            </a:r>
            <a:endParaRPr/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875" y="109500"/>
            <a:ext cx="1345099" cy="1345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&amp; Announcements</a:t>
            </a:r>
            <a:endParaRPr/>
          </a:p>
        </p:txBody>
      </p:sp>
      <p:sp>
        <p:nvSpPr>
          <p:cNvPr id="244" name="Google Shape;244;p31"/>
          <p:cNvSpPr txBox="1"/>
          <p:nvPr/>
        </p:nvSpPr>
        <p:spPr>
          <a:xfrm>
            <a:off x="713250" y="10939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ML: data → features → train model → make predictions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Supervised (labels), unsupervised, reinforcement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Room change &amp; Discord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1725" y="2656150"/>
            <a:ext cx="1687851" cy="1687851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9" name="Google Shape;249;p31"/>
          <p:cNvSpPr txBox="1"/>
          <p:nvPr/>
        </p:nvSpPr>
        <p:spPr>
          <a:xfrm>
            <a:off x="4868375" y="2317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Discord QR Code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Decision Trees?</a:t>
            </a:r>
            <a:endParaRPr/>
          </a:p>
        </p:txBody>
      </p:sp>
      <p:sp>
        <p:nvSpPr>
          <p:cNvPr id="255" name="Google Shape;255;p32"/>
          <p:cNvSpPr txBox="1"/>
          <p:nvPr/>
        </p:nvSpPr>
        <p:spPr>
          <a:xfrm>
            <a:off x="713250" y="10939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Series of true/false questions to narrow down a prediction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IRL examples: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20 Questions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Purchasing a car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Investing into a company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Quitting your job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Supervised learning method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Can be used for classification and regression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Terminology</a:t>
            </a:r>
            <a:endParaRPr/>
          </a:p>
        </p:txBody>
      </p:sp>
      <p:sp>
        <p:nvSpPr>
          <p:cNvPr id="264" name="Google Shape;264;p33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3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7" name="Google Shape;26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300" y="1526150"/>
            <a:ext cx="6631124" cy="2652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Idea</a:t>
            </a:r>
            <a:endParaRPr/>
          </a:p>
        </p:txBody>
      </p:sp>
      <p:sp>
        <p:nvSpPr>
          <p:cNvPr id="273" name="Google Shape;273;p34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4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276" name="Google Shape;276;p34"/>
          <p:cNvCxnSpPr/>
          <p:nvPr/>
        </p:nvCxnSpPr>
        <p:spPr>
          <a:xfrm flipH="1" rot="10800000">
            <a:off x="1321700" y="1423525"/>
            <a:ext cx="9000" cy="27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4"/>
          <p:cNvCxnSpPr/>
          <p:nvPr/>
        </p:nvCxnSpPr>
        <p:spPr>
          <a:xfrm flipH="1" rot="10800000">
            <a:off x="1245500" y="4081525"/>
            <a:ext cx="2743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4"/>
          <p:cNvSpPr txBox="1"/>
          <p:nvPr/>
        </p:nvSpPr>
        <p:spPr>
          <a:xfrm>
            <a:off x="1891675" y="4330325"/>
            <a:ext cx="176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Time (months)</a:t>
            </a:r>
            <a:endParaRPr sz="1100"/>
          </a:p>
        </p:txBody>
      </p:sp>
      <p:sp>
        <p:nvSpPr>
          <p:cNvPr id="279" name="Google Shape;279;p34"/>
          <p:cNvSpPr txBox="1"/>
          <p:nvPr/>
        </p:nvSpPr>
        <p:spPr>
          <a:xfrm rot="-5400000">
            <a:off x="161575" y="2545600"/>
            <a:ext cx="112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Latitude</a:t>
            </a:r>
            <a:endParaRPr sz="1000"/>
          </a:p>
        </p:txBody>
      </p:sp>
      <p:sp>
        <p:nvSpPr>
          <p:cNvPr id="280" name="Google Shape;280;p34"/>
          <p:cNvSpPr/>
          <p:nvPr/>
        </p:nvSpPr>
        <p:spPr>
          <a:xfrm>
            <a:off x="3652075" y="24802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"/>
          <p:cNvSpPr/>
          <p:nvPr/>
        </p:nvSpPr>
        <p:spPr>
          <a:xfrm>
            <a:off x="3242900" y="190387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4"/>
          <p:cNvSpPr txBox="1"/>
          <p:nvPr/>
        </p:nvSpPr>
        <p:spPr>
          <a:xfrm>
            <a:off x="721300" y="2519100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0°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701500" y="1327000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90°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645100" y="3738300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-90°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34"/>
          <p:cNvSpPr txBox="1"/>
          <p:nvPr/>
        </p:nvSpPr>
        <p:spPr>
          <a:xfrm>
            <a:off x="1093100" y="4081525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34"/>
          <p:cNvSpPr txBox="1"/>
          <p:nvPr/>
        </p:nvSpPr>
        <p:spPr>
          <a:xfrm>
            <a:off x="3425900" y="4081525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2900" y="233610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4"/>
          <p:cNvSpPr/>
          <p:nvPr/>
        </p:nvSpPr>
        <p:spPr>
          <a:xfrm>
            <a:off x="3021700" y="2582513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4"/>
          <p:cNvSpPr/>
          <p:nvPr/>
        </p:nvSpPr>
        <p:spPr>
          <a:xfrm>
            <a:off x="2680375" y="24103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4"/>
          <p:cNvSpPr/>
          <p:nvPr/>
        </p:nvSpPr>
        <p:spPr>
          <a:xfrm>
            <a:off x="2339050" y="2458113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"/>
          <p:cNvSpPr/>
          <p:nvPr/>
        </p:nvSpPr>
        <p:spPr>
          <a:xfrm>
            <a:off x="1995500" y="26353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1635950" y="24103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4"/>
          <p:cNvSpPr/>
          <p:nvPr/>
        </p:nvSpPr>
        <p:spPr>
          <a:xfrm>
            <a:off x="3603300" y="190387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4"/>
          <p:cNvSpPr/>
          <p:nvPr/>
        </p:nvSpPr>
        <p:spPr>
          <a:xfrm>
            <a:off x="3469075" y="159230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4"/>
          <p:cNvSpPr/>
          <p:nvPr/>
        </p:nvSpPr>
        <p:spPr>
          <a:xfrm>
            <a:off x="1554700" y="15389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4"/>
          <p:cNvSpPr/>
          <p:nvPr/>
        </p:nvSpPr>
        <p:spPr>
          <a:xfrm>
            <a:off x="1707100" y="16913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4"/>
          <p:cNvSpPr/>
          <p:nvPr/>
        </p:nvSpPr>
        <p:spPr>
          <a:xfrm>
            <a:off x="1926500" y="15083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4"/>
          <p:cNvSpPr/>
          <p:nvPr/>
        </p:nvSpPr>
        <p:spPr>
          <a:xfrm>
            <a:off x="1890100" y="19641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4"/>
          <p:cNvSpPr/>
          <p:nvPr/>
        </p:nvSpPr>
        <p:spPr>
          <a:xfrm>
            <a:off x="2375500" y="19641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4"/>
          <p:cNvSpPr/>
          <p:nvPr/>
        </p:nvSpPr>
        <p:spPr>
          <a:xfrm>
            <a:off x="2308388" y="16913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4"/>
          <p:cNvSpPr/>
          <p:nvPr/>
        </p:nvSpPr>
        <p:spPr>
          <a:xfrm>
            <a:off x="2588088" y="15389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4"/>
          <p:cNvSpPr/>
          <p:nvPr/>
        </p:nvSpPr>
        <p:spPr>
          <a:xfrm>
            <a:off x="2655200" y="18743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4"/>
          <p:cNvSpPr/>
          <p:nvPr/>
        </p:nvSpPr>
        <p:spPr>
          <a:xfrm>
            <a:off x="3442375" y="31723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4"/>
          <p:cNvSpPr/>
          <p:nvPr/>
        </p:nvSpPr>
        <p:spPr>
          <a:xfrm>
            <a:off x="3594775" y="33247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4"/>
          <p:cNvSpPr/>
          <p:nvPr/>
        </p:nvSpPr>
        <p:spPr>
          <a:xfrm>
            <a:off x="3242900" y="373830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4"/>
          <p:cNvSpPr/>
          <p:nvPr/>
        </p:nvSpPr>
        <p:spPr>
          <a:xfrm>
            <a:off x="3204700" y="34564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4"/>
          <p:cNvSpPr/>
          <p:nvPr/>
        </p:nvSpPr>
        <p:spPr>
          <a:xfrm>
            <a:off x="3652075" y="37031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4"/>
          <p:cNvSpPr/>
          <p:nvPr/>
        </p:nvSpPr>
        <p:spPr>
          <a:xfrm>
            <a:off x="1635950" y="373830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4"/>
          <p:cNvSpPr/>
          <p:nvPr/>
        </p:nvSpPr>
        <p:spPr>
          <a:xfrm>
            <a:off x="1818950" y="35077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4"/>
          <p:cNvSpPr/>
          <p:nvPr/>
        </p:nvSpPr>
        <p:spPr>
          <a:xfrm>
            <a:off x="1635950" y="31723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4"/>
          <p:cNvSpPr/>
          <p:nvPr/>
        </p:nvSpPr>
        <p:spPr>
          <a:xfrm>
            <a:off x="1995500" y="321960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4"/>
          <p:cNvSpPr/>
          <p:nvPr/>
        </p:nvSpPr>
        <p:spPr>
          <a:xfrm>
            <a:off x="2073100" y="37623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4"/>
          <p:cNvSpPr/>
          <p:nvPr/>
        </p:nvSpPr>
        <p:spPr>
          <a:xfrm>
            <a:off x="2439425" y="308677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4"/>
          <p:cNvSpPr/>
          <p:nvPr/>
        </p:nvSpPr>
        <p:spPr>
          <a:xfrm>
            <a:off x="2497425" y="334932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4"/>
          <p:cNvSpPr/>
          <p:nvPr/>
        </p:nvSpPr>
        <p:spPr>
          <a:xfrm>
            <a:off x="2718938" y="3102338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4"/>
          <p:cNvSpPr/>
          <p:nvPr/>
        </p:nvSpPr>
        <p:spPr>
          <a:xfrm>
            <a:off x="2718950" y="350772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4"/>
          <p:cNvSpPr/>
          <p:nvPr/>
        </p:nvSpPr>
        <p:spPr>
          <a:xfrm>
            <a:off x="2530925" y="37085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4"/>
          <p:cNvSpPr txBox="1"/>
          <p:nvPr/>
        </p:nvSpPr>
        <p:spPr>
          <a:xfrm>
            <a:off x="689800" y="911500"/>
            <a:ext cx="176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Goal: </a:t>
            </a: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Can I ski?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Idea</a:t>
            </a:r>
            <a:endParaRPr/>
          </a:p>
        </p:txBody>
      </p:sp>
      <p:sp>
        <p:nvSpPr>
          <p:cNvPr id="324" name="Google Shape;324;p35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5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327" name="Google Shape;327;p35"/>
          <p:cNvCxnSpPr/>
          <p:nvPr/>
        </p:nvCxnSpPr>
        <p:spPr>
          <a:xfrm flipH="1" rot="10800000">
            <a:off x="1321700" y="1423525"/>
            <a:ext cx="9000" cy="27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5"/>
          <p:cNvCxnSpPr/>
          <p:nvPr/>
        </p:nvCxnSpPr>
        <p:spPr>
          <a:xfrm flipH="1" rot="10800000">
            <a:off x="1245500" y="4081525"/>
            <a:ext cx="2743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35"/>
          <p:cNvSpPr txBox="1"/>
          <p:nvPr/>
        </p:nvSpPr>
        <p:spPr>
          <a:xfrm>
            <a:off x="1891675" y="4330325"/>
            <a:ext cx="176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Time (months)</a:t>
            </a:r>
            <a:endParaRPr sz="1100"/>
          </a:p>
        </p:txBody>
      </p:sp>
      <p:sp>
        <p:nvSpPr>
          <p:cNvPr id="330" name="Google Shape;330;p35"/>
          <p:cNvSpPr txBox="1"/>
          <p:nvPr/>
        </p:nvSpPr>
        <p:spPr>
          <a:xfrm rot="-5400000">
            <a:off x="161575" y="2545600"/>
            <a:ext cx="112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Latitude</a:t>
            </a:r>
            <a:endParaRPr sz="1000"/>
          </a:p>
        </p:txBody>
      </p:sp>
      <p:sp>
        <p:nvSpPr>
          <p:cNvPr id="331" name="Google Shape;331;p35"/>
          <p:cNvSpPr/>
          <p:nvPr/>
        </p:nvSpPr>
        <p:spPr>
          <a:xfrm>
            <a:off x="3652075" y="24802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5"/>
          <p:cNvSpPr/>
          <p:nvPr/>
        </p:nvSpPr>
        <p:spPr>
          <a:xfrm>
            <a:off x="3242900" y="190387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5"/>
          <p:cNvSpPr txBox="1"/>
          <p:nvPr/>
        </p:nvSpPr>
        <p:spPr>
          <a:xfrm>
            <a:off x="721300" y="2519100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0°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35"/>
          <p:cNvSpPr txBox="1"/>
          <p:nvPr/>
        </p:nvSpPr>
        <p:spPr>
          <a:xfrm>
            <a:off x="701500" y="1327000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0°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645100" y="3738300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-9</a:t>
            </a: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0°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35"/>
          <p:cNvSpPr txBox="1"/>
          <p:nvPr/>
        </p:nvSpPr>
        <p:spPr>
          <a:xfrm>
            <a:off x="1093100" y="4081525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3425900" y="4081525"/>
            <a:ext cx="8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3242900" y="233610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5"/>
          <p:cNvSpPr/>
          <p:nvPr/>
        </p:nvSpPr>
        <p:spPr>
          <a:xfrm>
            <a:off x="3021700" y="2582513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5"/>
          <p:cNvSpPr/>
          <p:nvPr/>
        </p:nvSpPr>
        <p:spPr>
          <a:xfrm>
            <a:off x="2680375" y="24103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5"/>
          <p:cNvSpPr/>
          <p:nvPr/>
        </p:nvSpPr>
        <p:spPr>
          <a:xfrm>
            <a:off x="2339050" y="2458113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5"/>
          <p:cNvSpPr/>
          <p:nvPr/>
        </p:nvSpPr>
        <p:spPr>
          <a:xfrm>
            <a:off x="1995500" y="26353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5"/>
          <p:cNvSpPr/>
          <p:nvPr/>
        </p:nvSpPr>
        <p:spPr>
          <a:xfrm>
            <a:off x="1635950" y="24103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5"/>
          <p:cNvSpPr/>
          <p:nvPr/>
        </p:nvSpPr>
        <p:spPr>
          <a:xfrm>
            <a:off x="3603300" y="190387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5"/>
          <p:cNvSpPr/>
          <p:nvPr/>
        </p:nvSpPr>
        <p:spPr>
          <a:xfrm>
            <a:off x="3469075" y="159230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5"/>
          <p:cNvSpPr/>
          <p:nvPr/>
        </p:nvSpPr>
        <p:spPr>
          <a:xfrm>
            <a:off x="1554700" y="15389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5"/>
          <p:cNvSpPr/>
          <p:nvPr/>
        </p:nvSpPr>
        <p:spPr>
          <a:xfrm>
            <a:off x="1707100" y="16913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5"/>
          <p:cNvSpPr/>
          <p:nvPr/>
        </p:nvSpPr>
        <p:spPr>
          <a:xfrm>
            <a:off x="1926500" y="15083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5"/>
          <p:cNvSpPr/>
          <p:nvPr/>
        </p:nvSpPr>
        <p:spPr>
          <a:xfrm>
            <a:off x="1890100" y="19641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5"/>
          <p:cNvSpPr/>
          <p:nvPr/>
        </p:nvSpPr>
        <p:spPr>
          <a:xfrm>
            <a:off x="2375500" y="19641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5"/>
          <p:cNvSpPr/>
          <p:nvPr/>
        </p:nvSpPr>
        <p:spPr>
          <a:xfrm>
            <a:off x="2308388" y="16913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5"/>
          <p:cNvSpPr/>
          <p:nvPr/>
        </p:nvSpPr>
        <p:spPr>
          <a:xfrm>
            <a:off x="2588088" y="15389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5"/>
          <p:cNvSpPr/>
          <p:nvPr/>
        </p:nvSpPr>
        <p:spPr>
          <a:xfrm>
            <a:off x="2655200" y="18743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5"/>
          <p:cNvSpPr/>
          <p:nvPr/>
        </p:nvSpPr>
        <p:spPr>
          <a:xfrm>
            <a:off x="3442375" y="31723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5"/>
          <p:cNvSpPr/>
          <p:nvPr/>
        </p:nvSpPr>
        <p:spPr>
          <a:xfrm>
            <a:off x="3594775" y="33247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5"/>
          <p:cNvSpPr/>
          <p:nvPr/>
        </p:nvSpPr>
        <p:spPr>
          <a:xfrm>
            <a:off x="3242900" y="373830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/>
          <p:nvPr/>
        </p:nvSpPr>
        <p:spPr>
          <a:xfrm>
            <a:off x="3204700" y="34564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5"/>
          <p:cNvSpPr/>
          <p:nvPr/>
        </p:nvSpPr>
        <p:spPr>
          <a:xfrm>
            <a:off x="3652075" y="37031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5"/>
          <p:cNvSpPr/>
          <p:nvPr/>
        </p:nvSpPr>
        <p:spPr>
          <a:xfrm>
            <a:off x="1635950" y="373830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5"/>
          <p:cNvSpPr/>
          <p:nvPr/>
        </p:nvSpPr>
        <p:spPr>
          <a:xfrm>
            <a:off x="1818950" y="35077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5"/>
          <p:cNvSpPr/>
          <p:nvPr/>
        </p:nvSpPr>
        <p:spPr>
          <a:xfrm>
            <a:off x="1635950" y="3172325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5"/>
          <p:cNvSpPr/>
          <p:nvPr/>
        </p:nvSpPr>
        <p:spPr>
          <a:xfrm>
            <a:off x="1995500" y="321960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5"/>
          <p:cNvSpPr/>
          <p:nvPr/>
        </p:nvSpPr>
        <p:spPr>
          <a:xfrm>
            <a:off x="2073100" y="3762350"/>
            <a:ext cx="183000" cy="18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5"/>
          <p:cNvSpPr/>
          <p:nvPr/>
        </p:nvSpPr>
        <p:spPr>
          <a:xfrm>
            <a:off x="2439425" y="308677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5"/>
          <p:cNvSpPr/>
          <p:nvPr/>
        </p:nvSpPr>
        <p:spPr>
          <a:xfrm>
            <a:off x="2497425" y="334932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5"/>
          <p:cNvSpPr/>
          <p:nvPr/>
        </p:nvSpPr>
        <p:spPr>
          <a:xfrm>
            <a:off x="2718938" y="3102338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5"/>
          <p:cNvSpPr/>
          <p:nvPr/>
        </p:nvSpPr>
        <p:spPr>
          <a:xfrm>
            <a:off x="2718950" y="3507725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5"/>
          <p:cNvSpPr/>
          <p:nvPr/>
        </p:nvSpPr>
        <p:spPr>
          <a:xfrm>
            <a:off x="2530925" y="3708550"/>
            <a:ext cx="183000" cy="1830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5"/>
          <p:cNvSpPr txBox="1"/>
          <p:nvPr/>
        </p:nvSpPr>
        <p:spPr>
          <a:xfrm>
            <a:off x="689800" y="911500"/>
            <a:ext cx="176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Goal: </a:t>
            </a:r>
            <a:r>
              <a:rPr lang="en"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Can I ski?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70" name="Google Shape;370;p35"/>
          <p:cNvCxnSpPr/>
          <p:nvPr/>
        </p:nvCxnSpPr>
        <p:spPr>
          <a:xfrm>
            <a:off x="1427700" y="2274688"/>
            <a:ext cx="2503800" cy="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5"/>
          <p:cNvCxnSpPr/>
          <p:nvPr/>
        </p:nvCxnSpPr>
        <p:spPr>
          <a:xfrm>
            <a:off x="1427700" y="2960488"/>
            <a:ext cx="2503800" cy="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5"/>
          <p:cNvCxnSpPr/>
          <p:nvPr/>
        </p:nvCxnSpPr>
        <p:spPr>
          <a:xfrm>
            <a:off x="2342100" y="2960488"/>
            <a:ext cx="9000" cy="100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5"/>
          <p:cNvCxnSpPr/>
          <p:nvPr/>
        </p:nvCxnSpPr>
        <p:spPr>
          <a:xfrm>
            <a:off x="3027900" y="2960488"/>
            <a:ext cx="9000" cy="100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35"/>
          <p:cNvCxnSpPr/>
          <p:nvPr/>
        </p:nvCxnSpPr>
        <p:spPr>
          <a:xfrm>
            <a:off x="2265900" y="1284088"/>
            <a:ext cx="9000" cy="100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5"/>
          <p:cNvCxnSpPr/>
          <p:nvPr/>
        </p:nvCxnSpPr>
        <p:spPr>
          <a:xfrm>
            <a:off x="3027900" y="1284088"/>
            <a:ext cx="9000" cy="100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5"/>
          <p:cNvCxnSpPr>
            <a:stCxn id="377" idx="3"/>
            <a:endCxn id="378" idx="0"/>
          </p:cNvCxnSpPr>
          <p:nvPr/>
        </p:nvCxnSpPr>
        <p:spPr>
          <a:xfrm flipH="1">
            <a:off x="6068096" y="1180375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35"/>
          <p:cNvCxnSpPr>
            <a:stCxn id="377" idx="5"/>
            <a:endCxn id="380" idx="0"/>
          </p:cNvCxnSpPr>
          <p:nvPr/>
        </p:nvCxnSpPr>
        <p:spPr>
          <a:xfrm>
            <a:off x="6555454" y="1180375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35"/>
          <p:cNvSpPr/>
          <p:nvPr/>
        </p:nvSpPr>
        <p:spPr>
          <a:xfrm>
            <a:off x="6023050" y="812125"/>
            <a:ext cx="833400" cy="36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 &gt; 30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2" name="Google Shape;382;p35"/>
          <p:cNvSpPr/>
          <p:nvPr/>
        </p:nvSpPr>
        <p:spPr>
          <a:xfrm>
            <a:off x="5360675" y="1599250"/>
            <a:ext cx="906600" cy="36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ime &lt; 4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3" name="Google Shape;383;p35"/>
          <p:cNvSpPr txBox="1"/>
          <p:nvPr/>
        </p:nvSpPr>
        <p:spPr>
          <a:xfrm>
            <a:off x="5673050" y="1128450"/>
            <a:ext cx="45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endParaRPr i="1" sz="800"/>
          </a:p>
        </p:txBody>
      </p:sp>
      <p:sp>
        <p:nvSpPr>
          <p:cNvPr id="384" name="Google Shape;384;p35"/>
          <p:cNvSpPr txBox="1"/>
          <p:nvPr/>
        </p:nvSpPr>
        <p:spPr>
          <a:xfrm>
            <a:off x="6704050" y="1130425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i="1" sz="800"/>
          </a:p>
        </p:txBody>
      </p:sp>
      <p:sp>
        <p:nvSpPr>
          <p:cNvPr id="385" name="Google Shape;385;p35"/>
          <p:cNvSpPr/>
          <p:nvPr/>
        </p:nvSpPr>
        <p:spPr>
          <a:xfrm>
            <a:off x="6521375" y="1599250"/>
            <a:ext cx="906600" cy="36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 &lt; -10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86" name="Google Shape;386;p35"/>
          <p:cNvCxnSpPr/>
          <p:nvPr/>
        </p:nvCxnSpPr>
        <p:spPr>
          <a:xfrm flipH="1">
            <a:off x="6903921" y="1955800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35"/>
          <p:cNvCxnSpPr/>
          <p:nvPr/>
        </p:nvCxnSpPr>
        <p:spPr>
          <a:xfrm>
            <a:off x="7391279" y="1955800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8" name="Google Shape;388;p35"/>
          <p:cNvSpPr/>
          <p:nvPr/>
        </p:nvSpPr>
        <p:spPr>
          <a:xfrm>
            <a:off x="6348900" y="2374675"/>
            <a:ext cx="906600" cy="36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 &lt; 4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6508875" y="1903875"/>
            <a:ext cx="45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endParaRPr i="1" sz="800"/>
          </a:p>
        </p:txBody>
      </p:sp>
      <p:sp>
        <p:nvSpPr>
          <p:cNvPr id="390" name="Google Shape;390;p35"/>
          <p:cNvSpPr txBox="1"/>
          <p:nvPr/>
        </p:nvSpPr>
        <p:spPr>
          <a:xfrm>
            <a:off x="7539875" y="1905850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i="1" sz="800"/>
          </a:p>
        </p:txBody>
      </p:sp>
      <p:sp>
        <p:nvSpPr>
          <p:cNvPr id="391" name="Google Shape;391;p35"/>
          <p:cNvSpPr/>
          <p:nvPr/>
        </p:nvSpPr>
        <p:spPr>
          <a:xfrm>
            <a:off x="7487450" y="2366025"/>
            <a:ext cx="365700" cy="36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2" name="Google Shape;392;p35"/>
          <p:cNvCxnSpPr/>
          <p:nvPr/>
        </p:nvCxnSpPr>
        <p:spPr>
          <a:xfrm flipH="1">
            <a:off x="5247471" y="1955800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35"/>
          <p:cNvCxnSpPr/>
          <p:nvPr/>
        </p:nvCxnSpPr>
        <p:spPr>
          <a:xfrm>
            <a:off x="5734829" y="1955800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4" name="Google Shape;394;p35"/>
          <p:cNvSpPr txBox="1"/>
          <p:nvPr/>
        </p:nvSpPr>
        <p:spPr>
          <a:xfrm>
            <a:off x="5004825" y="1827675"/>
            <a:ext cx="45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endParaRPr i="1" sz="800"/>
          </a:p>
        </p:txBody>
      </p:sp>
      <p:sp>
        <p:nvSpPr>
          <p:cNvPr id="395" name="Google Shape;395;p35"/>
          <p:cNvSpPr txBox="1"/>
          <p:nvPr/>
        </p:nvSpPr>
        <p:spPr>
          <a:xfrm>
            <a:off x="5807225" y="1905850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i="1" sz="800"/>
          </a:p>
        </p:txBody>
      </p:sp>
      <p:sp>
        <p:nvSpPr>
          <p:cNvPr id="396" name="Google Shape;396;p35"/>
          <p:cNvSpPr/>
          <p:nvPr/>
        </p:nvSpPr>
        <p:spPr>
          <a:xfrm>
            <a:off x="5395950" y="2374675"/>
            <a:ext cx="906600" cy="36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ime &gt; 8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4982063" y="2374675"/>
            <a:ext cx="365700" cy="3672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8" name="Google Shape;398;p35"/>
          <p:cNvCxnSpPr/>
          <p:nvPr/>
        </p:nvCxnSpPr>
        <p:spPr>
          <a:xfrm flipH="1">
            <a:off x="5468246" y="2735175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" name="Google Shape;399;p35"/>
          <p:cNvCxnSpPr/>
          <p:nvPr/>
        </p:nvCxnSpPr>
        <p:spPr>
          <a:xfrm>
            <a:off x="5727004" y="2735175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35"/>
          <p:cNvSpPr txBox="1"/>
          <p:nvPr/>
        </p:nvSpPr>
        <p:spPr>
          <a:xfrm>
            <a:off x="5073200" y="2683250"/>
            <a:ext cx="45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endParaRPr i="1" sz="800"/>
          </a:p>
        </p:txBody>
      </p:sp>
      <p:sp>
        <p:nvSpPr>
          <p:cNvPr id="401" name="Google Shape;401;p35"/>
          <p:cNvSpPr txBox="1"/>
          <p:nvPr/>
        </p:nvSpPr>
        <p:spPr>
          <a:xfrm>
            <a:off x="5799400" y="2685225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i="1" sz="800"/>
          </a:p>
        </p:txBody>
      </p:sp>
      <p:sp>
        <p:nvSpPr>
          <p:cNvPr id="402" name="Google Shape;402;p35"/>
          <p:cNvSpPr/>
          <p:nvPr/>
        </p:nvSpPr>
        <p:spPr>
          <a:xfrm>
            <a:off x="5823175" y="3145400"/>
            <a:ext cx="365700" cy="36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5210663" y="3136675"/>
            <a:ext cx="365700" cy="3672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4" name="Google Shape;404;p35"/>
          <p:cNvCxnSpPr/>
          <p:nvPr/>
        </p:nvCxnSpPr>
        <p:spPr>
          <a:xfrm flipH="1">
            <a:off x="6480883" y="2740925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35"/>
          <p:cNvCxnSpPr/>
          <p:nvPr/>
        </p:nvCxnSpPr>
        <p:spPr>
          <a:xfrm>
            <a:off x="7196842" y="2740925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35"/>
          <p:cNvSpPr txBox="1"/>
          <p:nvPr/>
        </p:nvSpPr>
        <p:spPr>
          <a:xfrm>
            <a:off x="6238238" y="2689000"/>
            <a:ext cx="45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endParaRPr i="1" sz="800"/>
          </a:p>
        </p:txBody>
      </p:sp>
      <p:sp>
        <p:nvSpPr>
          <p:cNvPr id="407" name="Google Shape;407;p35"/>
          <p:cNvSpPr txBox="1"/>
          <p:nvPr/>
        </p:nvSpPr>
        <p:spPr>
          <a:xfrm>
            <a:off x="7269238" y="2690975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i="1" sz="800"/>
          </a:p>
        </p:txBody>
      </p:sp>
      <p:sp>
        <p:nvSpPr>
          <p:cNvPr id="408" name="Google Shape;408;p35"/>
          <p:cNvSpPr/>
          <p:nvPr/>
        </p:nvSpPr>
        <p:spPr>
          <a:xfrm>
            <a:off x="6857963" y="3159800"/>
            <a:ext cx="906600" cy="36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 &gt; 8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6291675" y="3159800"/>
            <a:ext cx="365700" cy="3672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0" name="Google Shape;410;p35"/>
          <p:cNvCxnSpPr/>
          <p:nvPr/>
        </p:nvCxnSpPr>
        <p:spPr>
          <a:xfrm flipH="1">
            <a:off x="7006458" y="3520300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5"/>
          <p:cNvCxnSpPr/>
          <p:nvPr/>
        </p:nvCxnSpPr>
        <p:spPr>
          <a:xfrm>
            <a:off x="7493817" y="3520300"/>
            <a:ext cx="2328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35"/>
          <p:cNvSpPr txBox="1"/>
          <p:nvPr/>
        </p:nvSpPr>
        <p:spPr>
          <a:xfrm>
            <a:off x="6611413" y="3468375"/>
            <a:ext cx="45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endParaRPr i="1" sz="800"/>
          </a:p>
        </p:txBody>
      </p:sp>
      <p:sp>
        <p:nvSpPr>
          <p:cNvPr id="413" name="Google Shape;413;p35"/>
          <p:cNvSpPr txBox="1"/>
          <p:nvPr/>
        </p:nvSpPr>
        <p:spPr>
          <a:xfrm>
            <a:off x="7642413" y="3470350"/>
            <a:ext cx="4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i="1" sz="800"/>
          </a:p>
        </p:txBody>
      </p:sp>
      <p:sp>
        <p:nvSpPr>
          <p:cNvPr id="414" name="Google Shape;414;p35"/>
          <p:cNvSpPr/>
          <p:nvPr/>
        </p:nvSpPr>
        <p:spPr>
          <a:xfrm>
            <a:off x="7589988" y="3930525"/>
            <a:ext cx="365700" cy="36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5"/>
          <p:cNvSpPr/>
          <p:nvPr/>
        </p:nvSpPr>
        <p:spPr>
          <a:xfrm>
            <a:off x="6748875" y="3921800"/>
            <a:ext cx="365700" cy="3672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Decision Trees, Really?</a:t>
            </a:r>
            <a:endParaRPr/>
          </a:p>
        </p:txBody>
      </p:sp>
      <p:sp>
        <p:nvSpPr>
          <p:cNvPr id="421" name="Google Shape;421;p36"/>
          <p:cNvSpPr txBox="1"/>
          <p:nvPr/>
        </p:nvSpPr>
        <p:spPr>
          <a:xfrm>
            <a:off x="713250" y="10939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Greedy, top-down, recursive model which splits based on a threshold for a particular feature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Easy to understand, interpretable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Pneumonia paper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How do we determine the split?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6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4" name="Google Shape;4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7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Splitting</a:t>
            </a:r>
            <a:endParaRPr/>
          </a:p>
        </p:txBody>
      </p:sp>
      <p:sp>
        <p:nvSpPr>
          <p:cNvPr id="430" name="Google Shape;430;p37"/>
          <p:cNvSpPr txBox="1"/>
          <p:nvPr/>
        </p:nvSpPr>
        <p:spPr>
          <a:xfrm>
            <a:off x="713250" y="1170100"/>
            <a:ext cx="40635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Want as many </a:t>
            </a:r>
            <a:r>
              <a:rPr i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pure nodes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as possible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Entropy: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impurity in a group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Information gain: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how much information a feature provides about a class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Also reduction in entropy for a random variable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 u="sng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Maximize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information gain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37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7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purity" id="434" name="Google Shape;43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2325" y="1789325"/>
            <a:ext cx="4063576" cy="1492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5" name="Google Shape;435;p37"/>
          <p:cNvSpPr txBox="1"/>
          <p:nvPr/>
        </p:nvSpPr>
        <p:spPr>
          <a:xfrm>
            <a:off x="4959513" y="3487650"/>
            <a:ext cx="400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0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IG </a:t>
            </a:r>
            <a:r>
              <a:rPr lang="en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= </a:t>
            </a:r>
            <a:r>
              <a:rPr i="1" lang="en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i="1" lang="en" sz="16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parent </a:t>
            </a:r>
            <a:r>
              <a:rPr lang="en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− (</a:t>
            </a:r>
            <a:r>
              <a:rPr i="1" lang="en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i="1" lang="en" sz="16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child 1 + </a:t>
            </a:r>
            <a:r>
              <a:rPr i="1" lang="en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i="1" lang="en" sz="16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child 2</a:t>
            </a:r>
            <a:r>
              <a:rPr lang="en"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i="1" sz="16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Impurity Measures</a:t>
            </a:r>
            <a:endParaRPr/>
          </a:p>
        </p:txBody>
      </p:sp>
      <p:sp>
        <p:nvSpPr>
          <p:cNvPr id="441" name="Google Shape;441;p38"/>
          <p:cNvSpPr txBox="1"/>
          <p:nvPr/>
        </p:nvSpPr>
        <p:spPr>
          <a:xfrm>
            <a:off x="713250" y="1170100"/>
            <a:ext cx="38112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Loss functions → minimization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Cross-entropy loss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Gini loss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Brute force to determine which feature and threshold to use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8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Representation of Gini Index and Entropy" id="445" name="Google Shape;44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8375" y="2522375"/>
            <a:ext cx="5213901" cy="173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9125" y="1504250"/>
            <a:ext cx="3560850" cy="934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</a:t>
            </a:r>
            <a:endParaRPr/>
          </a:p>
        </p:txBody>
      </p:sp>
      <p:sp>
        <p:nvSpPr>
          <p:cNvPr id="452" name="Google Shape;452;p39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Will happen if we split too much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model is “too close to the data”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Can no longer generalize and make good predictions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Causes high </a:t>
            </a: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variance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: changes much more with small changes in input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9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Regularization for DTs</a:t>
            </a:r>
            <a:endParaRPr/>
          </a:p>
        </p:txBody>
      </p:sp>
      <p:sp>
        <p:nvSpPr>
          <p:cNvPr id="461" name="Google Shape;461;p40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Minimum leaf size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Max depth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Max number of nodes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2" name="Google Shape;462;p40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0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4" name="Google Shape;4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Variants</a:t>
            </a:r>
            <a:endParaRPr/>
          </a:p>
        </p:txBody>
      </p:sp>
      <p:sp>
        <p:nvSpPr>
          <p:cNvPr id="470" name="Google Shape;470;p41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We’ve been talking about </a:t>
            </a:r>
            <a:r>
              <a:rPr lang="en" sz="1800" u="sng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classification trees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Regression trees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Average the values in a leaf node to predict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Categorical variables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1" name="Google Shape;471;p41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1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3" name="Google Shape;47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2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- Pros/Cons</a:t>
            </a:r>
            <a:endParaRPr/>
          </a:p>
        </p:txBody>
      </p:sp>
      <p:sp>
        <p:nvSpPr>
          <p:cNvPr id="479" name="Google Shape;479;p42"/>
          <p:cNvSpPr txBox="1"/>
          <p:nvPr/>
        </p:nvSpPr>
        <p:spPr>
          <a:xfrm>
            <a:off x="713250" y="1170100"/>
            <a:ext cx="36960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Pros:</a:t>
            </a:r>
            <a:endParaRPr b="1" sz="18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Interpretable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Categorical variables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Low bias</a:t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42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2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2" name="Google Shape;4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83" name="Google Shape;483;p42"/>
          <p:cNvSpPr txBox="1"/>
          <p:nvPr/>
        </p:nvSpPr>
        <p:spPr>
          <a:xfrm>
            <a:off x="4975500" y="1170100"/>
            <a:ext cx="3000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Cons: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Low predictive accuracy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High variance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Bias-Variance Tradeoff</a:t>
            </a:r>
            <a:endParaRPr/>
          </a:p>
        </p:txBody>
      </p:sp>
      <p:sp>
        <p:nvSpPr>
          <p:cNvPr id="489" name="Google Shape;489;p43"/>
          <p:cNvSpPr txBox="1"/>
          <p:nvPr/>
        </p:nvSpPr>
        <p:spPr>
          <a:xfrm>
            <a:off x="713250" y="1170100"/>
            <a:ext cx="3715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Bias: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Fitting to training data poorly (underfitting)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Variance: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Not able to generalize well (overfitting)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Increase one → decrease the other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DTs are low bias, high variance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3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2" name="Google Shape;49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93" name="Google Shape;49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8475" y="1275638"/>
            <a:ext cx="3048000" cy="296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4"/>
          <p:cNvSpPr txBox="1"/>
          <p:nvPr>
            <p:ph type="title"/>
          </p:nvPr>
        </p:nvSpPr>
        <p:spPr>
          <a:xfrm>
            <a:off x="713225" y="1584850"/>
            <a:ext cx="47199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Ensembling</a:t>
            </a:r>
            <a:endParaRPr sz="5900"/>
          </a:p>
        </p:txBody>
      </p:sp>
      <p:sp>
        <p:nvSpPr>
          <p:cNvPr id="499" name="Google Shape;499;p44"/>
          <p:cNvSpPr txBox="1"/>
          <p:nvPr>
            <p:ph idx="1" type="subTitle"/>
          </p:nvPr>
        </p:nvSpPr>
        <p:spPr>
          <a:xfrm>
            <a:off x="713225" y="2922025"/>
            <a:ext cx="43386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DTs to improve predictive performance.</a:t>
            </a:r>
            <a:endParaRPr/>
          </a:p>
        </p:txBody>
      </p:sp>
      <p:cxnSp>
        <p:nvCxnSpPr>
          <p:cNvPr id="500" name="Google Shape;500;p44"/>
          <p:cNvCxnSpPr/>
          <p:nvPr/>
        </p:nvCxnSpPr>
        <p:spPr>
          <a:xfrm>
            <a:off x="713225" y="2721775"/>
            <a:ext cx="1272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44"/>
          <p:cNvSpPr/>
          <p:nvPr/>
        </p:nvSpPr>
        <p:spPr>
          <a:xfrm>
            <a:off x="1451238" y="40915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4"/>
          <p:cNvSpPr/>
          <p:nvPr/>
        </p:nvSpPr>
        <p:spPr>
          <a:xfrm>
            <a:off x="6192800" y="6721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5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to Ensemble</a:t>
            </a:r>
            <a:endParaRPr/>
          </a:p>
        </p:txBody>
      </p:sp>
      <p:sp>
        <p:nvSpPr>
          <p:cNvPr id="509" name="Google Shape;509;p45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Different algorithms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Different training sets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Bagging (Random Forests)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Boosting (Adaboost, xgboost)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0" name="Google Shape;510;p45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5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2" name="Google Shape;51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Bagging (Bootstrap Aggregation)</a:t>
            </a:r>
            <a:endParaRPr/>
          </a:p>
        </p:txBody>
      </p:sp>
      <p:sp>
        <p:nvSpPr>
          <p:cNvPr id="518" name="Google Shape;518;p46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Decreases variance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Bootstrap samples = random training sets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Train a unique model for each sample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Average the predictions from the models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9" name="Google Shape;519;p46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6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1" name="Google Shape;52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7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Forests</a:t>
            </a:r>
            <a:endParaRPr/>
          </a:p>
        </p:txBody>
      </p:sp>
      <p:sp>
        <p:nvSpPr>
          <p:cNvPr id="527" name="Google Shape;527;p47"/>
          <p:cNvSpPr txBox="1"/>
          <p:nvPr/>
        </p:nvSpPr>
        <p:spPr>
          <a:xfrm>
            <a:off x="713250" y="1170100"/>
            <a:ext cx="37119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Variant of bagging for DTs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For each DT, only consider a fraction of the features randomly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Average predictions from each DT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High predictive accuracy, slow to predict &amp; hard to trace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p47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7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0" name="Google Shape;5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1" name="Google Shape;53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9975" y="1411876"/>
            <a:ext cx="3788150" cy="289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8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Forests - Algorithm</a:t>
            </a:r>
            <a:endParaRPr/>
          </a:p>
        </p:txBody>
      </p:sp>
      <p:sp>
        <p:nvSpPr>
          <p:cNvPr id="537" name="Google Shape;537;p48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AutoNum type="arabicPeriod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Define # of trees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AutoNum type="alphaLcPeriod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Max depth, information gain (Gini vs. entropy)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AutoNum type="arabicPeriod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Bootstrapping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AutoNum type="alphaLcPeriod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Randomly choose rows from full dataset and subset of features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AutoNum type="arabicPeriod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Train individual DTs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AutoNum type="arabicPeriod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Aggregating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48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8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0" name="Google Shape;5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9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</a:t>
            </a:r>
            <a:endParaRPr/>
          </a:p>
        </p:txBody>
      </p:sp>
      <p:sp>
        <p:nvSpPr>
          <p:cNvPr id="546" name="Google Shape;546;p49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Decrease bias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Train one model, add prediction to ensemble, repeat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Adaboost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Train on size 1 DTs (stumps)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Adjust weight of mistakes, repeat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Also xgboost, gradient boosting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7" name="Google Shape;547;p49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9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9" name="Google Shape;54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0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</a:t>
            </a:r>
            <a:endParaRPr/>
          </a:p>
        </p:txBody>
      </p:sp>
      <p:sp>
        <p:nvSpPr>
          <p:cNvPr id="555" name="Google Shape;555;p50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Decision Trees: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BP’s GasOIL System (1986)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Learning to fly a plane on a flight sim (1992)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Ensembling methods: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Kaggle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Stock prediction, breast cancer diagnosis, product recommendations, and much more!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6" name="Google Shape;556;p50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0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8" name="Google Shape;55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564" name="Google Shape;564;p51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DTs = trees of true/false predictions to identify classes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Interpretable, bad for predictions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Can be used for classification, regression, and use categorical variables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Ensembling improves predictive performance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Random Forests = averaging a bunch of DTs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Next week: workshop session and group projects!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5" name="Google Shape;565;p51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1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7" name="Google Shape;56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uter Science &amp; Mathematics Major For College: Mathematics by Slidesgo">
  <a:themeElements>
    <a:clrScheme name="Simple Light">
      <a:dk1>
        <a:srgbClr val="FFFFFF"/>
      </a:dk1>
      <a:lt1>
        <a:srgbClr val="F3F3F3"/>
      </a:lt1>
      <a:dk2>
        <a:srgbClr val="666666"/>
      </a:dk2>
      <a:lt2>
        <a:srgbClr val="D149CE"/>
      </a:lt2>
      <a:accent1>
        <a:srgbClr val="43309F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