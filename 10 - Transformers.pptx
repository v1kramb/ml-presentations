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Bebas Neue"/>
      <p:regular r:id="rId32"/>
    </p:embeddedFont>
    <p:embeddedFont>
      <p:font typeface="Poppins SemiBold"/>
      <p:regular r:id="rId33"/>
      <p:bold r:id="rId34"/>
      <p:italic r:id="rId35"/>
      <p:boldItalic r:id="rId36"/>
    </p:embeddedFont>
    <p:embeddedFont>
      <p:font typeface="PT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oppins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7.xml"/><Relationship Id="rId33" Type="http://schemas.openxmlformats.org/officeDocument/2006/relationships/font" Target="fonts/PoppinsSemiBold-regular.fntdata"/><Relationship Id="rId10" Type="http://schemas.openxmlformats.org/officeDocument/2006/relationships/slide" Target="slides/slide6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9.xml"/><Relationship Id="rId35" Type="http://schemas.openxmlformats.org/officeDocument/2006/relationships/font" Target="fonts/PoppinsSemiBold-italic.fntdata"/><Relationship Id="rId12" Type="http://schemas.openxmlformats.org/officeDocument/2006/relationships/slide" Target="slides/slide8.xml"/><Relationship Id="rId34" Type="http://schemas.openxmlformats.org/officeDocument/2006/relationships/font" Target="fonts/PoppinsSemiBold-bold.fntdata"/><Relationship Id="rId15" Type="http://schemas.openxmlformats.org/officeDocument/2006/relationships/slide" Target="slides/slide11.xml"/><Relationship Id="rId37" Type="http://schemas.openxmlformats.org/officeDocument/2006/relationships/font" Target="fonts/PTSans-regular.fntdata"/><Relationship Id="rId14" Type="http://schemas.openxmlformats.org/officeDocument/2006/relationships/slide" Target="slides/slide10.xml"/><Relationship Id="rId36" Type="http://schemas.openxmlformats.org/officeDocument/2006/relationships/font" Target="fonts/PoppinsSemiBold-boldItalic.fntdata"/><Relationship Id="rId17" Type="http://schemas.openxmlformats.org/officeDocument/2006/relationships/slide" Target="slides/slide13.xml"/><Relationship Id="rId39" Type="http://schemas.openxmlformats.org/officeDocument/2006/relationships/font" Target="fonts/PTSans-italic.fntdata"/><Relationship Id="rId16" Type="http://schemas.openxmlformats.org/officeDocument/2006/relationships/slide" Target="slides/slide12.xml"/><Relationship Id="rId38" Type="http://schemas.openxmlformats.org/officeDocument/2006/relationships/font" Target="fonts/PTSan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i.stackexchange.com/questions/21389/what-is-the-intuition-behind-the-attention-mechanism" TargetMode="External"/><Relationship Id="rId3" Type="http://schemas.openxmlformats.org/officeDocument/2006/relationships/hyperlink" Target="https://avinashselvam.medium.com/intuition-for-concepts-in-transformers-1f42b0200a77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rBCqOTEfxvg&amp;t=946s" TargetMode="External"/><Relationship Id="rId3" Type="http://schemas.openxmlformats.org/officeDocument/2006/relationships/hyperlink" Target="https://stats.stackexchange.com/questions/421935/what-exactly-are-keys-queries-and-values-in-attention-mechanisms?rq=1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2l.ai/chapter_attention-mechanisms-and-transformers/queries-keys-values.html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lsc-psd/introduction-of-self-attention-layer-in-transformer-fc7bff63f3bc" TargetMode="External"/><Relationship Id="rId3" Type="http://schemas.openxmlformats.org/officeDocument/2006/relationships/hyperlink" Target="https://towardsdatascience.com/attention-and-its-different-forms-7fc3674d14dc" TargetMode="External"/><Relationship Id="rId4" Type="http://schemas.openxmlformats.org/officeDocument/2006/relationships/hyperlink" Target="https://machinelearningmastery.com/the-transformer-attention-mechanism/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ats.stackexchange.com/questions/485910/what-is-the-role-of-feed-forward-layer-in-transformer-neural-network-architectur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ats.stackexchange.com/questions/565196/why-are-residual-connections-needed-in-transformer-architectures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analytics-vidhya/masking-in-transformers-self-attention-mechanism-bad3c9ec235c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analytics-vidhya/understanding-q-k-v-in-transformer-self-attention-9a5eddaa5960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christianversloot/machine-learning-articles/blob/main/differences-between-autoregressive-autoencoding-and-sequence-to-sequence-models-in-machine-learning.md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033b3b36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033b3b36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067512cfb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067512cfb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067512cfb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067512cfb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3a699dbdf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3a699dbdf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3a3150a8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3a3150a8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3aa8477ef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3aa8477ef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3aa8477ef9_1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3aa8477ef9_1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3aa8477ef9_1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3aa8477ef9_1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https://ai.stackexchange.com/questions/21389/what-is-the-intuition-behind-the-attention-mechanism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https://avinashselvam.medium.com/intuition-for-concepts-in-transformers-1f42b0200a77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3aa8477ef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3aa8477e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explanation of dot-product attention: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https://www.youtube.com/watch?v=rBCqOTEfxvg&amp;t=946s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https://stats.stackexchange.com/questions/421935/what-exactly-are-keys-queries-and-values-in-attention-mechanisms?rq=1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3aa8477ef9_1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3aa8477ef9_1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https://d2l.ai/chapter_attention-mechanisms-and-transformers/queries-keys-values.html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d_k = dimension of q/k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3aa8477ef9_1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3aa8477ef9_1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https://medium.com/lsc-psd/introduction-of-self-attention-layer-in-transformer-fc7bff63f3bc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https://towardsdatascience.com/attention-and-its-different-forms-7fc3674d14dc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https://machinelearningmastery.com/the-transformer-attention-mechanism/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3aa8477ef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3aa8477ef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3aa8477ef9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3aa8477ef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https://stats.stackexchange.com/questions/485910/what-is-the-role-of-feed-forward-layer-in-transformer-neural-network-architectur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3aa8477ef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3aa8477ef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https://stats.stackexchange.com/questions/565196/why-are-residual-connections-needed-in-transformer-architectures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3aa8477ef9_1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3aa8477ef9_1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3aa8477ef9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3aa8477ef9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3aa8477ef9_1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3aa8477ef9_1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3aa8477ef9_1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3aa8477ef9_1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https://medium.com/analytics-vidhya/masking-in-transformers-self-attention-mechanism-bad3c9ec235c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3aa8477ef9_1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3aa8477ef9_1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https://medium.com/analytics-vidhya/understanding-q-k-v-in-transformer-self-attention-9a5eddaa5960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3aa8477ef9_1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3aa8477ef9_1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3aa8477ef9_1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3aa8477ef9_1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033b3b36eb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033b3b36e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https://github.com/christianversloot/machine-learning-articles/blob/main/differences-between-autoregressive-autoencoding-and-sequence-to-sequence-models-in-machine-learning.md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3a3150a8d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3a3150a8d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2221675"/>
            <a:ext cx="4387800" cy="6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982925"/>
            <a:ext cx="1126200" cy="88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13225" y="2899550"/>
            <a:ext cx="23694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13225" y="3093025"/>
            <a:ext cx="3858900" cy="8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713225" y="1240175"/>
            <a:ext cx="3858900" cy="13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314375" y="44179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-777450" y="4417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6054600" y="-10954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044" scaled="0"/>
        </a:gra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267638" y="2711350"/>
            <a:ext cx="29424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title"/>
          </p:nvPr>
        </p:nvSpPr>
        <p:spPr>
          <a:xfrm>
            <a:off x="4933895" y="2711350"/>
            <a:ext cx="29424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933895" y="3068050"/>
            <a:ext cx="2942400" cy="10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1267638" y="3068050"/>
            <a:ext cx="2942400" cy="10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5"/>
          <p:cNvSpPr txBox="1"/>
          <p:nvPr>
            <p:ph idx="4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" name="Google Shape;33;p5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1400" scaled="0"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 flipH="1" rot="10800000">
            <a:off x="0" y="0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372600" y="838625"/>
            <a:ext cx="4104600" cy="8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3372600" y="2233671"/>
            <a:ext cx="4104600" cy="20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-777475" y="-95120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-308275" y="14260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3915300" y="1481575"/>
            <a:ext cx="4515600" cy="18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"/>
          <p:cNvSpPr/>
          <p:nvPr/>
        </p:nvSpPr>
        <p:spPr>
          <a:xfrm>
            <a:off x="289325" y="-10467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3338275" y="1415713"/>
            <a:ext cx="50925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3338275" y="2543688"/>
            <a:ext cx="5092500" cy="11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 flipH="1" rot="10800000">
            <a:off x="0" y="0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-904525" y="1831800"/>
            <a:ext cx="4698300" cy="46989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2580750" y="393662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-390175" y="1831800"/>
            <a:ext cx="856500" cy="856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713225" y="2508375"/>
            <a:ext cx="2260500" cy="18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321475" y="1384463"/>
            <a:ext cx="5109300" cy="156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10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subTitle"/>
          </p:nvPr>
        </p:nvSpPr>
        <p:spPr>
          <a:xfrm>
            <a:off x="3321475" y="3187388"/>
            <a:ext cx="5109300" cy="3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3" name="Google Shape;63;p11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6268075" y="42199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5130775" y="45560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0025" scaled="0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1772463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1772463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2" type="title"/>
          </p:nvPr>
        </p:nvSpPr>
        <p:spPr>
          <a:xfrm>
            <a:off x="5474937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2" name="Google Shape;72;p13"/>
          <p:cNvSpPr txBox="1"/>
          <p:nvPr>
            <p:ph idx="3" type="subTitle"/>
          </p:nvPr>
        </p:nvSpPr>
        <p:spPr>
          <a:xfrm>
            <a:off x="5474937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hasCustomPrompt="1" idx="4" type="title"/>
          </p:nvPr>
        </p:nvSpPr>
        <p:spPr>
          <a:xfrm>
            <a:off x="1030563" y="1654725"/>
            <a:ext cx="6657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5" type="title"/>
          </p:nvPr>
        </p:nvSpPr>
        <p:spPr>
          <a:xfrm>
            <a:off x="4733038" y="1654725"/>
            <a:ext cx="6657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6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7" type="title"/>
          </p:nvPr>
        </p:nvSpPr>
        <p:spPr>
          <a:xfrm>
            <a:off x="1772463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7" name="Google Shape;77;p13"/>
          <p:cNvSpPr txBox="1"/>
          <p:nvPr>
            <p:ph idx="8" type="subTitle"/>
          </p:nvPr>
        </p:nvSpPr>
        <p:spPr>
          <a:xfrm>
            <a:off x="1772463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9" type="title"/>
          </p:nvPr>
        </p:nvSpPr>
        <p:spPr>
          <a:xfrm>
            <a:off x="5474937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" name="Google Shape;79;p13"/>
          <p:cNvSpPr txBox="1"/>
          <p:nvPr>
            <p:ph idx="13" type="subTitle"/>
          </p:nvPr>
        </p:nvSpPr>
        <p:spPr>
          <a:xfrm>
            <a:off x="5474937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14" type="title"/>
          </p:nvPr>
        </p:nvSpPr>
        <p:spPr>
          <a:xfrm>
            <a:off x="1030563" y="3061675"/>
            <a:ext cx="6657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15" type="title"/>
          </p:nvPr>
        </p:nvSpPr>
        <p:spPr>
          <a:xfrm>
            <a:off x="4733038" y="3061675"/>
            <a:ext cx="665700" cy="357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713225" y="1584850"/>
            <a:ext cx="4338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713225" y="2922025"/>
            <a:ext cx="43386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-3706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406975" y="-95120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969750" y="3381325"/>
            <a:ext cx="33456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969750" y="1405475"/>
            <a:ext cx="7204500" cy="15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15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713225" y="1376788"/>
            <a:ext cx="2865300" cy="8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subTitle"/>
          </p:nvPr>
        </p:nvSpPr>
        <p:spPr>
          <a:xfrm>
            <a:off x="713225" y="2753300"/>
            <a:ext cx="28653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314375" y="44179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-777450" y="4417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7093500" y="-80590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8176100" y="229275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608363" y="1706900"/>
            <a:ext cx="286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4608363" y="2692650"/>
            <a:ext cx="28653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-994650" y="-68350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7603575" y="3720950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743375" y="42722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1015650" y="3490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1949025" y="1572175"/>
            <a:ext cx="286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1949025" y="2557925"/>
            <a:ext cx="28653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6981300" y="46547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8430775" y="41364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13225" y="1456500"/>
            <a:ext cx="3519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2" type="title"/>
          </p:nvPr>
        </p:nvSpPr>
        <p:spPr>
          <a:xfrm>
            <a:off x="4911425" y="1456500"/>
            <a:ext cx="3519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4911425" y="1965600"/>
            <a:ext cx="3519300" cy="22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713225" y="1965600"/>
            <a:ext cx="3519300" cy="22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6" name="Google Shape;126;p19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 flipH="1" rot="10800000">
            <a:off x="0" y="0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4572000" y="1355075"/>
            <a:ext cx="2547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2" type="title"/>
          </p:nvPr>
        </p:nvSpPr>
        <p:spPr>
          <a:xfrm>
            <a:off x="4572000" y="2836825"/>
            <a:ext cx="2547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3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4572000" y="3193525"/>
            <a:ext cx="25473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33" name="Google Shape;133;p20"/>
          <p:cNvSpPr txBox="1"/>
          <p:nvPr>
            <p:ph idx="3" type="subTitle"/>
          </p:nvPr>
        </p:nvSpPr>
        <p:spPr>
          <a:xfrm>
            <a:off x="4572000" y="1711775"/>
            <a:ext cx="25473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title"/>
          </p:nvPr>
        </p:nvSpPr>
        <p:spPr>
          <a:xfrm>
            <a:off x="4572000" y="539500"/>
            <a:ext cx="3858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" name="Google Shape;135;p20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1765025" y="1571750"/>
            <a:ext cx="2393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1765025" y="1928450"/>
            <a:ext cx="23937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2" type="title"/>
          </p:nvPr>
        </p:nvSpPr>
        <p:spPr>
          <a:xfrm>
            <a:off x="3901039" y="3122750"/>
            <a:ext cx="2393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1" name="Google Shape;141;p21"/>
          <p:cNvSpPr txBox="1"/>
          <p:nvPr>
            <p:ph idx="3" type="subTitle"/>
          </p:nvPr>
        </p:nvSpPr>
        <p:spPr>
          <a:xfrm>
            <a:off x="3901044" y="3479450"/>
            <a:ext cx="23937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4" type="title"/>
          </p:nvPr>
        </p:nvSpPr>
        <p:spPr>
          <a:xfrm>
            <a:off x="6037014" y="1571750"/>
            <a:ext cx="23937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3" name="Google Shape;143;p21"/>
          <p:cNvSpPr txBox="1"/>
          <p:nvPr>
            <p:ph idx="5" type="subTitle"/>
          </p:nvPr>
        </p:nvSpPr>
        <p:spPr>
          <a:xfrm>
            <a:off x="6037024" y="1928450"/>
            <a:ext cx="23937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6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21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6981300" y="465472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8430775" y="41364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2145808" y="1635275"/>
            <a:ext cx="2139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2145808" y="1991975"/>
            <a:ext cx="21390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2" type="title"/>
          </p:nvPr>
        </p:nvSpPr>
        <p:spPr>
          <a:xfrm>
            <a:off x="5910993" y="1635275"/>
            <a:ext cx="2139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" name="Google Shape;153;p22"/>
          <p:cNvSpPr txBox="1"/>
          <p:nvPr>
            <p:ph idx="3" type="subTitle"/>
          </p:nvPr>
        </p:nvSpPr>
        <p:spPr>
          <a:xfrm>
            <a:off x="5910986" y="1991975"/>
            <a:ext cx="21390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4" type="title"/>
          </p:nvPr>
        </p:nvSpPr>
        <p:spPr>
          <a:xfrm>
            <a:off x="2145808" y="3068675"/>
            <a:ext cx="2139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5" name="Google Shape;155;p22"/>
          <p:cNvSpPr txBox="1"/>
          <p:nvPr>
            <p:ph idx="5" type="subTitle"/>
          </p:nvPr>
        </p:nvSpPr>
        <p:spPr>
          <a:xfrm>
            <a:off x="2145808" y="3425375"/>
            <a:ext cx="21390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6" type="title"/>
          </p:nvPr>
        </p:nvSpPr>
        <p:spPr>
          <a:xfrm>
            <a:off x="5910993" y="3068675"/>
            <a:ext cx="2139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7" name="Google Shape;157;p22"/>
          <p:cNvSpPr txBox="1"/>
          <p:nvPr>
            <p:ph idx="7" type="subTitle"/>
          </p:nvPr>
        </p:nvSpPr>
        <p:spPr>
          <a:xfrm>
            <a:off x="5910986" y="3425375"/>
            <a:ext cx="2139000" cy="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8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9" name="Google Shape;159;p2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6634050" y="46085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2138151" y="1291150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4" name="Google Shape;164;p23"/>
          <p:cNvSpPr txBox="1"/>
          <p:nvPr>
            <p:ph idx="1" type="subTitle"/>
          </p:nvPr>
        </p:nvSpPr>
        <p:spPr>
          <a:xfrm>
            <a:off x="2138163" y="1647850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3"/>
          <p:cNvSpPr txBox="1"/>
          <p:nvPr>
            <p:ph idx="2" type="title"/>
          </p:nvPr>
        </p:nvSpPr>
        <p:spPr>
          <a:xfrm>
            <a:off x="5903326" y="1291138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" name="Google Shape;166;p23"/>
          <p:cNvSpPr txBox="1"/>
          <p:nvPr>
            <p:ph idx="3" type="subTitle"/>
          </p:nvPr>
        </p:nvSpPr>
        <p:spPr>
          <a:xfrm>
            <a:off x="5903338" y="1647838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4" type="title"/>
          </p:nvPr>
        </p:nvSpPr>
        <p:spPr>
          <a:xfrm>
            <a:off x="2138151" y="2419150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8" name="Google Shape;168;p23"/>
          <p:cNvSpPr txBox="1"/>
          <p:nvPr>
            <p:ph idx="5" type="subTitle"/>
          </p:nvPr>
        </p:nvSpPr>
        <p:spPr>
          <a:xfrm>
            <a:off x="2138163" y="2775850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6" type="title"/>
          </p:nvPr>
        </p:nvSpPr>
        <p:spPr>
          <a:xfrm>
            <a:off x="5903326" y="2419138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0" name="Google Shape;170;p23"/>
          <p:cNvSpPr txBox="1"/>
          <p:nvPr>
            <p:ph idx="7" type="subTitle"/>
          </p:nvPr>
        </p:nvSpPr>
        <p:spPr>
          <a:xfrm>
            <a:off x="5903338" y="2775838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8" type="title"/>
          </p:nvPr>
        </p:nvSpPr>
        <p:spPr>
          <a:xfrm>
            <a:off x="2138151" y="3547150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2" name="Google Shape;172;p23"/>
          <p:cNvSpPr txBox="1"/>
          <p:nvPr>
            <p:ph idx="9" type="subTitle"/>
          </p:nvPr>
        </p:nvSpPr>
        <p:spPr>
          <a:xfrm>
            <a:off x="2138163" y="3903850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3" type="title"/>
          </p:nvPr>
        </p:nvSpPr>
        <p:spPr>
          <a:xfrm>
            <a:off x="5903326" y="3547138"/>
            <a:ext cx="2154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3"/>
          <p:cNvSpPr txBox="1"/>
          <p:nvPr>
            <p:ph idx="14" type="subTitle"/>
          </p:nvPr>
        </p:nvSpPr>
        <p:spPr>
          <a:xfrm>
            <a:off x="5903338" y="3903838"/>
            <a:ext cx="21543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15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23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6200038" scaled="0"/>
        </a:gra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hasCustomPrompt="1" type="title"/>
          </p:nvPr>
        </p:nvSpPr>
        <p:spPr>
          <a:xfrm>
            <a:off x="941825" y="1041350"/>
            <a:ext cx="37236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9" name="Google Shape;179;p24"/>
          <p:cNvSpPr txBox="1"/>
          <p:nvPr>
            <p:ph idx="1" type="subTitle"/>
          </p:nvPr>
        </p:nvSpPr>
        <p:spPr>
          <a:xfrm>
            <a:off x="941825" y="1971450"/>
            <a:ext cx="37236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0" name="Google Shape;180;p24"/>
          <p:cNvSpPr txBox="1"/>
          <p:nvPr>
            <p:ph hasCustomPrompt="1" idx="2" type="title"/>
          </p:nvPr>
        </p:nvSpPr>
        <p:spPr>
          <a:xfrm>
            <a:off x="941825" y="2788450"/>
            <a:ext cx="37236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1" name="Google Shape;181;p24"/>
          <p:cNvSpPr txBox="1"/>
          <p:nvPr>
            <p:ph idx="3" type="subTitle"/>
          </p:nvPr>
        </p:nvSpPr>
        <p:spPr>
          <a:xfrm>
            <a:off x="941825" y="3718550"/>
            <a:ext cx="37236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2" name="Google Shape;182;p24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-1335175" y="41784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5725350" y="-95150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hasCustomPrompt="1" type="title"/>
          </p:nvPr>
        </p:nvSpPr>
        <p:spPr>
          <a:xfrm>
            <a:off x="2323344" y="1200050"/>
            <a:ext cx="1014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8" name="Google Shape;188;p25"/>
          <p:cNvSpPr txBox="1"/>
          <p:nvPr>
            <p:ph idx="2" type="title"/>
          </p:nvPr>
        </p:nvSpPr>
        <p:spPr>
          <a:xfrm>
            <a:off x="2323344" y="1830650"/>
            <a:ext cx="2180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9" name="Google Shape;189;p25"/>
          <p:cNvSpPr txBox="1"/>
          <p:nvPr>
            <p:ph idx="1" type="subTitle"/>
          </p:nvPr>
        </p:nvSpPr>
        <p:spPr>
          <a:xfrm>
            <a:off x="2323344" y="2187350"/>
            <a:ext cx="21801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5"/>
          <p:cNvSpPr txBox="1"/>
          <p:nvPr>
            <p:ph idx="3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1" name="Google Shape;191;p25"/>
          <p:cNvSpPr txBox="1"/>
          <p:nvPr>
            <p:ph hasCustomPrompt="1" idx="4" type="title"/>
          </p:nvPr>
        </p:nvSpPr>
        <p:spPr>
          <a:xfrm>
            <a:off x="6250644" y="1200050"/>
            <a:ext cx="1014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2" name="Google Shape;192;p25"/>
          <p:cNvSpPr txBox="1"/>
          <p:nvPr>
            <p:ph idx="5" type="title"/>
          </p:nvPr>
        </p:nvSpPr>
        <p:spPr>
          <a:xfrm>
            <a:off x="6250644" y="1830650"/>
            <a:ext cx="2180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3" name="Google Shape;193;p25"/>
          <p:cNvSpPr txBox="1"/>
          <p:nvPr>
            <p:ph idx="6" type="subTitle"/>
          </p:nvPr>
        </p:nvSpPr>
        <p:spPr>
          <a:xfrm>
            <a:off x="6250644" y="2187350"/>
            <a:ext cx="21801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5"/>
          <p:cNvSpPr txBox="1"/>
          <p:nvPr>
            <p:ph hasCustomPrompt="1" idx="7" type="title"/>
          </p:nvPr>
        </p:nvSpPr>
        <p:spPr>
          <a:xfrm>
            <a:off x="2323344" y="2956325"/>
            <a:ext cx="1014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5" name="Google Shape;195;p25"/>
          <p:cNvSpPr txBox="1"/>
          <p:nvPr>
            <p:ph idx="8" type="title"/>
          </p:nvPr>
        </p:nvSpPr>
        <p:spPr>
          <a:xfrm>
            <a:off x="2323344" y="3586925"/>
            <a:ext cx="2180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6" name="Google Shape;196;p25"/>
          <p:cNvSpPr txBox="1"/>
          <p:nvPr>
            <p:ph idx="9" type="subTitle"/>
          </p:nvPr>
        </p:nvSpPr>
        <p:spPr>
          <a:xfrm>
            <a:off x="2323344" y="3943625"/>
            <a:ext cx="21801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hasCustomPrompt="1" idx="13" type="title"/>
          </p:nvPr>
        </p:nvSpPr>
        <p:spPr>
          <a:xfrm>
            <a:off x="6250644" y="2956325"/>
            <a:ext cx="10146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8" name="Google Shape;198;p25"/>
          <p:cNvSpPr txBox="1"/>
          <p:nvPr>
            <p:ph idx="14" type="title"/>
          </p:nvPr>
        </p:nvSpPr>
        <p:spPr>
          <a:xfrm>
            <a:off x="6250644" y="3586925"/>
            <a:ext cx="21801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9" name="Google Shape;199;p25"/>
          <p:cNvSpPr txBox="1"/>
          <p:nvPr>
            <p:ph idx="15" type="subTitle"/>
          </p:nvPr>
        </p:nvSpPr>
        <p:spPr>
          <a:xfrm>
            <a:off x="6250644" y="3943625"/>
            <a:ext cx="21801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5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3" name="Google Shape;203;p26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713225" y="539500"/>
            <a:ext cx="4057500" cy="87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27"/>
          <p:cNvSpPr txBox="1"/>
          <p:nvPr>
            <p:ph idx="1" type="subTitle"/>
          </p:nvPr>
        </p:nvSpPr>
        <p:spPr>
          <a:xfrm>
            <a:off x="713225" y="1863269"/>
            <a:ext cx="4057500" cy="11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/>
        </p:nvSpPr>
        <p:spPr>
          <a:xfrm>
            <a:off x="713225" y="3679100"/>
            <a:ext cx="405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and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7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7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6054600" y="-10954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-777450" y="4417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 flipH="1" rot="10800000">
            <a:off x="0" y="0"/>
            <a:ext cx="28575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-542100" y="43634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8430775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713225" y="479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9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-561150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82399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713225" y="-391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olab.research.google.com/github/dlmacedo/starter-academic/blob/master/content/courses/deeplearning/notebooks/tensorflow/transformer.ipynb" TargetMode="External"/><Relationship Id="rId4" Type="http://schemas.openxmlformats.org/officeDocument/2006/relationships/hyperlink" Target="https://colab.research.google.com/drive/1Jw5jvZbxRsunOVRqt6eb4aiPOmeNwSnv?usp=sharing" TargetMode="External"/><Relationship Id="rId5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theaisummer.com/transformer/" TargetMode="External"/><Relationship Id="rId4" Type="http://schemas.openxmlformats.org/officeDocument/2006/relationships/hyperlink" Target="https://nlp.seas.harvard.edu/annotated-transformer/" TargetMode="External"/><Relationship Id="rId9" Type="http://schemas.openxmlformats.org/officeDocument/2006/relationships/hyperlink" Target="https://arxiv.org/abs/1706.03762" TargetMode="External"/><Relationship Id="rId5" Type="http://schemas.openxmlformats.org/officeDocument/2006/relationships/hyperlink" Target="https://johnthickstun.com/docs/transformers.pdf" TargetMode="External"/><Relationship Id="rId6" Type="http://schemas.openxmlformats.org/officeDocument/2006/relationships/hyperlink" Target="https://lilianweng.github.io/posts/2018-06-24-attention/" TargetMode="External"/><Relationship Id="rId7" Type="http://schemas.openxmlformats.org/officeDocument/2006/relationships/hyperlink" Target="https://lilianweng.github.io/posts/2023-01-27-the-transformer-family-v2/" TargetMode="External"/><Relationship Id="rId8" Type="http://schemas.openxmlformats.org/officeDocument/2006/relationships/hyperlink" Target="https://www.youtube.com/watch?v=kCc8FmEb1nY" TargetMode="External"/><Relationship Id="rId10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400" y="1350025"/>
            <a:ext cx="2753400" cy="275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29" name="Google Shape;229;p30"/>
          <p:cNvSpPr txBox="1"/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Transformers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30" name="Google Shape;230;p30"/>
          <p:cNvSpPr txBox="1"/>
          <p:nvPr>
            <p:ph idx="1" type="subTitle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26th, 2023</a:t>
            </a:r>
            <a:endParaRPr/>
          </a:p>
        </p:txBody>
      </p:sp>
      <p:cxnSp>
        <p:nvCxnSpPr>
          <p:cNvPr id="231" name="Google Shape;231;p30"/>
          <p:cNvCxnSpPr/>
          <p:nvPr/>
        </p:nvCxnSpPr>
        <p:spPr>
          <a:xfrm>
            <a:off x="3926475" y="3189225"/>
            <a:ext cx="1272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30"/>
          <p:cNvSpPr/>
          <p:nvPr/>
        </p:nvSpPr>
        <p:spPr>
          <a:xfrm>
            <a:off x="7096000" y="382565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>
            <a:off x="7707775" y="31653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8549975" y="29777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-1081350" y="-6356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0"/>
          <p:cNvSpPr/>
          <p:nvPr/>
        </p:nvSpPr>
        <p:spPr>
          <a:xfrm>
            <a:off x="2361550" y="5395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/>
        </p:nvSpPr>
        <p:spPr>
          <a:xfrm>
            <a:off x="713250" y="1170100"/>
            <a:ext cx="44724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Neural network architecture developed to solve sequence transduction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Game changer for NLP: effectively gain very long-term memory.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 recurrent units - only attention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Paper: “Attention is All You Need” (2017)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3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43" name="Google Shape;243;p31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6" name="Google Shape;24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675" y="1186575"/>
            <a:ext cx="3255243" cy="3459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/>
        </p:nvSpPr>
        <p:spPr>
          <a:xfrm>
            <a:off x="713250" y="1170100"/>
            <a:ext cx="45402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BERT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: language representation model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OpenAI Codex, Github CoPilot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: code generation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GPT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(Generative Pre-Trained Transformer)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ChatGPT: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conversational Q&amp;A bot, built on GPT-3.5/4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32"/>
          <p:cNvSpPr txBox="1"/>
          <p:nvPr>
            <p:ph type="title"/>
          </p:nvPr>
        </p:nvSpPr>
        <p:spPr>
          <a:xfrm>
            <a:off x="713225" y="529684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</a:t>
            </a:r>
            <a:endParaRPr/>
          </a:p>
        </p:txBody>
      </p:sp>
      <p:sp>
        <p:nvSpPr>
          <p:cNvPr id="253" name="Google Shape;253;p32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6" name="Google Shape;25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538" y="2441325"/>
            <a:ext cx="3216786" cy="17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2"/>
          <p:cNvPicPr preferRelativeResize="0"/>
          <p:nvPr/>
        </p:nvPicPr>
        <p:blipFill rotWithShape="1">
          <a:blip r:embed="rId5">
            <a:alphaModFix/>
          </a:blip>
          <a:srcRect b="0" l="21636" r="22497" t="0"/>
          <a:stretch/>
        </p:blipFill>
        <p:spPr>
          <a:xfrm>
            <a:off x="5639950" y="539500"/>
            <a:ext cx="1461000" cy="14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1699200" y="2214150"/>
            <a:ext cx="57456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4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0" name="Google Shape;27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0900" y="341575"/>
            <a:ext cx="3026675" cy="44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76" name="Google Shape;276;p35"/>
          <p:cNvSpPr txBox="1"/>
          <p:nvPr/>
        </p:nvSpPr>
        <p:spPr>
          <a:xfrm>
            <a:off x="713250" y="1170100"/>
            <a:ext cx="40785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Encoder-decoder architecture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Encoder: input = input sequence, updates it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Decoder: input = output from encoder, output from decoder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No recurrence!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5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2575" y="380525"/>
            <a:ext cx="3026675" cy="44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86" name="Google Shape;286;p36"/>
          <p:cNvSpPr txBox="1"/>
          <p:nvPr/>
        </p:nvSpPr>
        <p:spPr>
          <a:xfrm>
            <a:off x="713250" y="1170100"/>
            <a:ext cx="40785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Layers: Encoder, Decoder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Sublayers: Multi-Head Attention, Feed-Forward Net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Sublayer Connections: LayerNorm, Dropout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I/O: Embedding, Positional Encoding, Softmax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6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0" name="Google Shape;29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2575" y="380525"/>
            <a:ext cx="3026675" cy="44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  <p:sp>
        <p:nvSpPr>
          <p:cNvPr id="296" name="Google Shape;296;p37"/>
          <p:cNvSpPr txBox="1"/>
          <p:nvPr/>
        </p:nvSpPr>
        <p:spPr>
          <a:xfrm>
            <a:off x="713250" y="1384475"/>
            <a:ext cx="7411800" cy="25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Weight / pay </a:t>
            </a:r>
            <a:r>
              <a:rPr lang="en" sz="1800" u="sng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attention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to different parts of a sequence according to how important they are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Attention mechanism = trainable weights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Allows you to look at the entire sequence at once!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Does not care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about order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0" name="Google Shape;300;p37"/>
          <p:cNvSpPr txBox="1"/>
          <p:nvPr/>
        </p:nvSpPr>
        <p:spPr>
          <a:xfrm>
            <a:off x="866100" y="868225"/>
            <a:ext cx="7411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dog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Labrador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1" name="Google Shape;30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8175" y="3619475"/>
            <a:ext cx="685800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Scaled Dot-Product Attention</a:t>
            </a:r>
            <a:endParaRPr/>
          </a:p>
        </p:txBody>
      </p:sp>
      <p:sp>
        <p:nvSpPr>
          <p:cNvPr id="307" name="Google Shape;307;p38"/>
          <p:cNvSpPr txBox="1"/>
          <p:nvPr/>
        </p:nvSpPr>
        <p:spPr>
          <a:xfrm>
            <a:off x="789450" y="1093900"/>
            <a:ext cx="4525200" cy="3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Q (Query), K (Key), V (Value) are vectors; come from info retrieval systems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Q = info you’re seeking a representation for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K = info contained in the values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 = info itself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K, V represent memory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38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11" name="Google Shape;31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825" y="2829650"/>
            <a:ext cx="3329999" cy="143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2" name="Google Shape;31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1825" y="1926889"/>
            <a:ext cx="3330000" cy="79918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Scaled </a:t>
            </a:r>
            <a:r>
              <a:rPr lang="en"/>
              <a:t>Dot-Product Attention</a:t>
            </a:r>
            <a:endParaRPr/>
          </a:p>
        </p:txBody>
      </p:sp>
      <p:sp>
        <p:nvSpPr>
          <p:cNvPr id="318" name="Google Shape;318;p39"/>
          <p:cNvSpPr txBox="1"/>
          <p:nvPr/>
        </p:nvSpPr>
        <p:spPr>
          <a:xfrm>
            <a:off x="789450" y="1093900"/>
            <a:ext cx="4525200" cy="3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QK</a:t>
            </a:r>
            <a:r>
              <a:rPr baseline="30000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dot-product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similarity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Softmax → generate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probability distribution/mask over keys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Scaled: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Divide by by √d</a:t>
            </a:r>
            <a:r>
              <a:rPr baseline="-25000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→ variance = 1 →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gentler softmax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MatMul w/ V → summing over values multiplied by mask → get the most relevant info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9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2" name="Google Shape;32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825" y="1926889"/>
            <a:ext cx="3330000" cy="79918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3" name="Google Shape;32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1825" y="2829650"/>
            <a:ext cx="3329999" cy="130142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type="title"/>
          </p:nvPr>
        </p:nvSpPr>
        <p:spPr>
          <a:xfrm>
            <a:off x="713225" y="3871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Multi-Head Attention</a:t>
            </a:r>
            <a:endParaRPr/>
          </a:p>
        </p:txBody>
      </p:sp>
      <p:sp>
        <p:nvSpPr>
          <p:cNvPr id="329" name="Google Shape;329;p40"/>
          <p:cNvSpPr txBox="1"/>
          <p:nvPr/>
        </p:nvSpPr>
        <p:spPr>
          <a:xfrm>
            <a:off x="637050" y="865300"/>
            <a:ext cx="4915800" cy="2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Idea: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Attend to different parts of input seq differently each time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Extract info from different </a:t>
            </a:r>
            <a:r>
              <a:rPr lang="en" sz="1800" u="sng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learned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representation spaces by projecting Q/K/V by weight matrices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Heads are independent → train in parallel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0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3" name="Google Shape;33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076" y="1246300"/>
            <a:ext cx="2616751" cy="33890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4" name="Google Shape;33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6774" y="3874075"/>
            <a:ext cx="4384851" cy="478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5" name="Google Shape;335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6774" y="4376300"/>
            <a:ext cx="4384850" cy="33922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</a:t>
            </a:r>
            <a:endParaRPr/>
          </a:p>
        </p:txBody>
      </p:sp>
      <p:sp>
        <p:nvSpPr>
          <p:cNvPr id="341" name="Google Shape;341;p41"/>
          <p:cNvSpPr txBox="1"/>
          <p:nvPr/>
        </p:nvSpPr>
        <p:spPr>
          <a:xfrm>
            <a:off x="713250" y="10939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Idea: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tokenization → set (no order) → add encoding which give more context about a token’s position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Uses sine/cosine functions at different wavelengths which are dependent on a token’s position in a sentence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Allows you to pay more attention to tokens which aren’t close enough (unlike recurrent models)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41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1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5" name="Google Shape;34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5063" y="3741350"/>
            <a:ext cx="3728175" cy="1127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6" name="Google Shape;34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805" y="3661275"/>
            <a:ext cx="2415770" cy="637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Feed-Forward Net</a:t>
            </a:r>
            <a:endParaRPr/>
          </a:p>
        </p:txBody>
      </p:sp>
      <p:sp>
        <p:nvSpPr>
          <p:cNvPr id="352" name="Google Shape;352;p42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Purpose: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Process output from attention layer in a way which better fits it for the input of the next attention layer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Idea: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Add more parameters / nonlinearity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2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2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56" name="Google Shape;356;p42" title="[0,0,0,&quot;https://www.codecogs.com/eqnedit.php?latex=%20%5Cmathrm%7BFFN%7D(x)%3D%5Cmax(0%2C%20xW_1%20%2B%20b_1)%20W_2%20%2B%20b_2%20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963" y="3132594"/>
            <a:ext cx="7269163" cy="4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3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Sublayer Connections</a:t>
            </a:r>
            <a:endParaRPr/>
          </a:p>
        </p:txBody>
      </p:sp>
      <p:sp>
        <p:nvSpPr>
          <p:cNvPr id="362" name="Google Shape;362;p43"/>
          <p:cNvSpPr txBox="1"/>
          <p:nvPr/>
        </p:nvSpPr>
        <p:spPr>
          <a:xfrm>
            <a:off x="713250" y="1170100"/>
            <a:ext cx="57654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Layer normalization: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normalize input distribution across the features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Dropout: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prevents overfitting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Residual connections: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add some of a particular block’s input to the output, reduces vanishing gradient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43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3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6" name="Google Shape;366;p43"/>
          <p:cNvPicPr preferRelativeResize="0"/>
          <p:nvPr/>
        </p:nvPicPr>
        <p:blipFill rotWithShape="1">
          <a:blip r:embed="rId4">
            <a:alphaModFix/>
          </a:blip>
          <a:srcRect b="26008" l="8278" r="50741" t="34349"/>
          <a:stretch/>
        </p:blipFill>
        <p:spPr>
          <a:xfrm>
            <a:off x="6993250" y="1760200"/>
            <a:ext cx="1754925" cy="250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4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4" name="Google Shape;37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0900" y="341575"/>
            <a:ext cx="3026675" cy="44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</a:t>
            </a:r>
            <a:endParaRPr/>
          </a:p>
        </p:txBody>
      </p:sp>
      <p:sp>
        <p:nvSpPr>
          <p:cNvPr id="380" name="Google Shape;380;p45"/>
          <p:cNvSpPr txBox="1"/>
          <p:nvPr/>
        </p:nvSpPr>
        <p:spPr>
          <a:xfrm>
            <a:off x="713250" y="1170100"/>
            <a:ext cx="49779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Apply attention + FFN for each head, repeat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p45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5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84" name="Google Shape;384;p45"/>
          <p:cNvPicPr preferRelativeResize="0"/>
          <p:nvPr/>
        </p:nvPicPr>
        <p:blipFill rotWithShape="1">
          <a:blip r:embed="rId4">
            <a:alphaModFix/>
          </a:blip>
          <a:srcRect b="0" l="0" r="49705" t="32935"/>
          <a:stretch/>
        </p:blipFill>
        <p:spPr>
          <a:xfrm>
            <a:off x="5849975" y="1170100"/>
            <a:ext cx="1787150" cy="351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</a:t>
            </a:r>
            <a:endParaRPr/>
          </a:p>
        </p:txBody>
      </p:sp>
      <p:sp>
        <p:nvSpPr>
          <p:cNvPr id="390" name="Google Shape;390;p46"/>
          <p:cNvSpPr txBox="1"/>
          <p:nvPr/>
        </p:nvSpPr>
        <p:spPr>
          <a:xfrm>
            <a:off x="713250" y="1170100"/>
            <a:ext cx="50925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Components are very similar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Two multi-head attention blocks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First works with previous decoder outputs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■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Autoregressive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■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Masked (will explain next)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Second works with encoder output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46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6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4" name="Google Shape;394;p46"/>
          <p:cNvPicPr preferRelativeResize="0"/>
          <p:nvPr/>
        </p:nvPicPr>
        <p:blipFill rotWithShape="1">
          <a:blip r:embed="rId4">
            <a:alphaModFix/>
          </a:blip>
          <a:srcRect b="0" l="49786" r="0" t="0"/>
          <a:stretch/>
        </p:blipFill>
        <p:spPr>
          <a:xfrm>
            <a:off x="6050099" y="504800"/>
            <a:ext cx="1455025" cy="4270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Masking</a:t>
            </a:r>
            <a:endParaRPr/>
          </a:p>
        </p:txBody>
      </p:sp>
      <p:sp>
        <p:nvSpPr>
          <p:cNvPr id="400" name="Google Shape;400;p47"/>
          <p:cNvSpPr txBox="1"/>
          <p:nvPr/>
        </p:nvSpPr>
        <p:spPr>
          <a:xfrm>
            <a:off x="713250" y="1170100"/>
            <a:ext cx="47886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Purpose: 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ensures that the model is autoregressive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Ensures that multi-head attention is masked so it can’t cheat by seeing future words from the decoder input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p47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7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4" name="Google Shape;404;p47"/>
          <p:cNvPicPr preferRelativeResize="0"/>
          <p:nvPr/>
        </p:nvPicPr>
        <p:blipFill rotWithShape="1">
          <a:blip r:embed="rId4">
            <a:alphaModFix/>
          </a:blip>
          <a:srcRect b="0" l="49786" r="0" t="0"/>
          <a:stretch/>
        </p:blipFill>
        <p:spPr>
          <a:xfrm>
            <a:off x="7421699" y="352400"/>
            <a:ext cx="1455025" cy="4270223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7"/>
          <p:cNvSpPr/>
          <p:nvPr/>
        </p:nvSpPr>
        <p:spPr>
          <a:xfrm>
            <a:off x="7421700" y="2760675"/>
            <a:ext cx="1016100" cy="4782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6575" y="1136375"/>
            <a:ext cx="1553501" cy="1662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7" name="Google Shape;407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9826" y="2917599"/>
            <a:ext cx="1746998" cy="16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Q, K, V come from?</a:t>
            </a:r>
            <a:endParaRPr/>
          </a:p>
        </p:txBody>
      </p:sp>
      <p:sp>
        <p:nvSpPr>
          <p:cNvPr id="413" name="Google Shape;413;p48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Encoder attention block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Q, K, V come from input sequence (</a:t>
            </a: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self-attention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Decoder attention block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Q, K, V come from output sequence (self-attention)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Decoder-encoder attention block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Q = output sequence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K, V = input sequence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8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9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24" name="Google Shape;42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0900" y="341575"/>
            <a:ext cx="3026675" cy="44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0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430" name="Google Shape;430;p50"/>
          <p:cNvSpPr txBox="1"/>
          <p:nvPr/>
        </p:nvSpPr>
        <p:spPr>
          <a:xfrm>
            <a:off x="713250" y="1071750"/>
            <a:ext cx="7411800" cy="3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Check out this tutorial for a from-scratch implementation from: 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https://colab.research.google.com/github/dlmacedo/starter-academic/blob/master/content/courses/deeplearning/notebooks/tensorflow/transformer.ipynb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There’s also a demo on HuggingFace’s transformers library we created: 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https://colab.research.google.com/drive/1Jw5jvZbxRsunOVRqt6eb4aiPOmeNwSnv?usp=sharing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50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0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Resources</a:t>
            </a:r>
            <a:endParaRPr/>
          </a:p>
        </p:txBody>
      </p:sp>
      <p:sp>
        <p:nvSpPr>
          <p:cNvPr id="439" name="Google Shape;439;p51"/>
          <p:cNvSpPr txBox="1"/>
          <p:nvPr/>
        </p:nvSpPr>
        <p:spPr>
          <a:xfrm>
            <a:off x="713250" y="1170100"/>
            <a:ext cx="7411800" cy="37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How transformers work… (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linked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Annotated Transformer [with code] (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linked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Transformer Model in Equations [math] (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linked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Lilian Weng’s blogposts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Attention (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linked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○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Transformer Family v2 (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7"/>
              </a:rPr>
              <a:t>linked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Andrej Karpathy: Building GPT from Scratch [Video] (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linked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“Attention is All You Need” (2017): </a:t>
            </a:r>
            <a:r>
              <a:rPr lang="en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9"/>
              </a:rPr>
              <a:t>linked</a:t>
            </a:r>
            <a:r>
              <a:rPr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51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1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2" name="Google Shape;442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2"/>
          <p:cNvSpPr/>
          <p:nvPr/>
        </p:nvSpPr>
        <p:spPr>
          <a:xfrm>
            <a:off x="7795950" y="-7833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2"/>
          <p:cNvSpPr/>
          <p:nvPr/>
        </p:nvSpPr>
        <p:spPr>
          <a:xfrm>
            <a:off x="7487450" y="38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450" y="380200"/>
            <a:ext cx="637500" cy="637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0" name="Google Shape;45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0279" y="1040138"/>
            <a:ext cx="4063500" cy="306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uter Science &amp; Mathematics Major For College: Mathematics by Slidesgo">
  <a:themeElements>
    <a:clrScheme name="Simple Light">
      <a:dk1>
        <a:srgbClr val="FFFFFF"/>
      </a:dk1>
      <a:lt1>
        <a:srgbClr val="F3F3F3"/>
      </a:lt1>
      <a:dk2>
        <a:srgbClr val="666666"/>
      </a:dk2>
      <a:lt2>
        <a:srgbClr val="D149CE"/>
      </a:lt2>
      <a:accent1>
        <a:srgbClr val="43309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